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Master" Target="slideMasters/slideMaster1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731520" y="594360"/>
            <a:ext cx="52120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4300" b="1">
                <a:solidFill>
                  <a:srgbClr val="202729"/>
                </a:solidFill>
                <a:latin typeface="Aptos"/>
              </a:rPr>
              <a:t>FilmApp</a:t>
            </a:r>
            <a:endParaRPr lang="ca-ES" sz="4300"/>
          </a:p>
        </p:txBody>
      </p:sp>
      <p:sp>
        <p:nvSpPr>
          <p:cNvPr id="3" name="Box 3"/>
          <p:cNvSpPr/>
          <p:nvPr/>
        </p:nvSpPr>
        <p:spPr>
          <a:xfrm>
            <a:off x="786384" y="1664208"/>
            <a:ext cx="5532120" cy="100584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1">
                <a:solidFill>
                  <a:srgbClr val="525252"/>
                </a:solidFill>
                <a:latin typeface="Aptos"/>
              </a:rPr>
              <a:t>Aplicació Flutter de gestió de pel·lícules</a:t>
            </a:r>
            <a:endParaRPr lang="ca-ES" sz="2000"/>
          </a:p>
          <a:p>
            <a:r>
              <a:rPr lang="ca-ES" sz="2000" b="0">
                <a:solidFill>
                  <a:srgbClr val="525252"/>
                </a:solidFill>
                <a:latin typeface="Aptos"/>
              </a:rPr>
              <a:t>Autenticació, catàleg, preferides, opinions, idiomes i persistència local/remota.</a:t>
            </a:r>
            <a:endParaRPr lang="ca-ES" sz="2000"/>
          </a:p>
        </p:txBody>
      </p:sp>
      <p:pic>
        <p:nvPicPr>
          <p:cNvPr id="4" name="Image 4"/>
          <p:cNvPicPr/>
          <p:nvPr/>
        </p:nvPicPr>
        <p:blipFill>
          <a:blip r:embed="rImg1"/>
          <a:stretch>
            <a:fillRect/>
          </a:stretch>
        </p:blipFill>
        <p:spPr>
          <a:xfrm>
            <a:off x="6995160" y="731520"/>
            <a:ext cx="1143000" cy="1691640"/>
          </a:xfrm>
          <a:prstGeom prst="rect">
            <a:avLst/>
          </a:prstGeom>
        </p:spPr>
      </p:pic>
      <p:pic>
        <p:nvPicPr>
          <p:cNvPr id="5" name="Image 5"/>
          <p:cNvPicPr/>
          <p:nvPr/>
        </p:nvPicPr>
        <p:blipFill>
          <a:blip r:embed="rImg2"/>
          <a:stretch>
            <a:fillRect/>
          </a:stretch>
        </p:blipFill>
        <p:spPr>
          <a:xfrm>
            <a:off x="8458200" y="960120"/>
            <a:ext cx="1143000" cy="1691640"/>
          </a:xfrm>
          <a:prstGeom prst="rect">
            <a:avLst/>
          </a:prstGeom>
        </p:spPr>
      </p:pic>
      <p:pic>
        <p:nvPicPr>
          <p:cNvPr id="6" name="Image 6"/>
          <p:cNvPicPr/>
          <p:nvPr/>
        </p:nvPicPr>
        <p:blipFill>
          <a:blip r:embed="rImg3"/>
          <a:stretch>
            <a:fillRect/>
          </a:stretch>
        </p:blipFill>
        <p:spPr>
          <a:xfrm>
            <a:off x="9921240" y="731520"/>
            <a:ext cx="1143000" cy="1691640"/>
          </a:xfrm>
          <a:prstGeom prst="rect">
            <a:avLst/>
          </a:prstGeom>
        </p:spPr>
      </p:pic>
      <p:sp>
        <p:nvSpPr>
          <p:cNvPr id="7" name="Box 7"/>
          <p:cNvSpPr/>
          <p:nvPr/>
        </p:nvSpPr>
        <p:spPr>
          <a:xfrm>
            <a:off x="822960" y="5303520"/>
            <a:ext cx="4023360" cy="438912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500" b="1">
                <a:solidFill>
                  <a:srgbClr val="276749"/>
                </a:solidFill>
                <a:latin typeface="Aptos"/>
              </a:rPr>
              <a:t>Projecte Final · Flutter + Dart</a:t>
            </a:r>
            <a:endParaRPr lang="ca-E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Introducció del projecte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Aplicació mòbil per organitzar i valorar pel·lícules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325880"/>
            <a:ext cx="512064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Què és FilmApp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Una aplicació mòbil desenvolupada amb Flutter perquè cada usuari gestione el seu propi catàleg de pel·lícules.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Permet consultar, buscar, crear, editar, esborrar, marcar preferides i afegir opinions.</a:t>
            </a:r>
            <a:endParaRPr lang="ca-ES" sz="2200"/>
          </a:p>
        </p:txBody>
      </p:sp>
      <p:sp>
        <p:nvSpPr>
          <p:cNvPr id="5" name="Box 5"/>
          <p:cNvSpPr/>
          <p:nvPr/>
        </p:nvSpPr>
        <p:spPr>
          <a:xfrm>
            <a:off x="6446520" y="1325880"/>
            <a:ext cx="4663440" cy="42519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300" b="1">
                <a:solidFill>
                  <a:srgbClr val="1F2728"/>
                </a:solidFill>
                <a:latin typeface="Aptos"/>
              </a:rPr>
              <a:t>Idea central</a:t>
            </a:r>
            <a:endParaRPr lang="ca-ES" sz="2300"/>
          </a:p>
          <a:p>
            <a:r>
              <a:rPr lang="ca-ES" sz="2300" b="0">
                <a:solidFill>
                  <a:srgbClr val="1F2728"/>
                </a:solidFill>
                <a:latin typeface="Aptos"/>
              </a:rPr>
              <a:t>El projecte no és només una interfície: està organitzat per capes, amb estat global, repositoris i persistència local/remota.</a:t>
            </a:r>
            <a:endParaRPr lang="ca-ES"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Objectius del projecte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Metes funcionals, tècniques i d’aprenentatge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325880"/>
            <a:ext cx="31546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Funcionals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Login i registre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Catàleg de pel·lícules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Preferides per usuari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Opinions i valoració mitjana</a:t>
            </a:r>
            <a:endParaRPr lang="ca-ES" sz="1900"/>
          </a:p>
        </p:txBody>
      </p:sp>
      <p:sp>
        <p:nvSpPr>
          <p:cNvPr id="5" name="Box 5"/>
          <p:cNvSpPr/>
          <p:nvPr/>
        </p:nvSpPr>
        <p:spPr>
          <a:xfrm>
            <a:off x="4526280" y="1325880"/>
            <a:ext cx="31546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Tècnics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Flutter + Dart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Provider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SQLite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Firebase Auth + Firestore</a:t>
            </a:r>
            <a:endParaRPr lang="ca-ES" sz="1900"/>
          </a:p>
        </p:txBody>
      </p:sp>
      <p:sp>
        <p:nvSpPr>
          <p:cNvPr id="6" name="Box 6"/>
          <p:cNvSpPr/>
          <p:nvPr/>
        </p:nvSpPr>
        <p:spPr>
          <a:xfrm>
            <a:off x="8321040" y="1325880"/>
            <a:ext cx="315468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Aprenentatge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Arquitectura per capes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Persistència dual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Gestió d’estat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Proves de flux</a:t>
            </a:r>
            <a:endParaRPr lang="ca-E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Funcionalitats principals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Què pot fer l’usuari dins de l’aplicació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143000"/>
            <a:ext cx="2560320" cy="1097280"/>
          </a:xfrm>
          <a:prstGeom prst="roundRect">
            <a:avLst/>
          </a:prstGeom>
          <a:solidFill>
            <a:srgbClr val="202729"/>
          </a:solidFill>
          <a:ln w="9525">
            <a:solidFill>
              <a:srgbClr val="202729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1">
                <a:solidFill>
                  <a:srgbClr val="FFFFFF"/>
                </a:solidFill>
                <a:latin typeface="Aptos"/>
              </a:rPr>
              <a:t>Autenticació</a:t>
            </a:r>
            <a:endParaRPr lang="ca-ES" sz="2100"/>
          </a:p>
        </p:txBody>
      </p:sp>
      <p:sp>
        <p:nvSpPr>
          <p:cNvPr id="5" name="Box 5"/>
          <p:cNvSpPr/>
          <p:nvPr/>
        </p:nvSpPr>
        <p:spPr>
          <a:xfrm>
            <a:off x="3611880" y="1143000"/>
            <a:ext cx="2560320" cy="1097280"/>
          </a:xfrm>
          <a:prstGeom prst="roundRect">
            <a:avLst/>
          </a:prstGeom>
          <a:solidFill>
            <a:srgbClr val="4BA173"/>
          </a:solidFill>
          <a:ln w="9525">
            <a:solidFill>
              <a:srgbClr val="4BA173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1">
                <a:solidFill>
                  <a:srgbClr val="FFFFFF"/>
                </a:solidFill>
                <a:latin typeface="Aptos"/>
              </a:rPr>
              <a:t>Catàleg</a:t>
            </a:r>
            <a:endParaRPr lang="ca-ES" sz="2100"/>
          </a:p>
        </p:txBody>
      </p:sp>
      <p:sp>
        <p:nvSpPr>
          <p:cNvPr id="6" name="Box 6"/>
          <p:cNvSpPr/>
          <p:nvPr/>
        </p:nvSpPr>
        <p:spPr>
          <a:xfrm>
            <a:off x="6492240" y="1143000"/>
            <a:ext cx="2560320" cy="1097280"/>
          </a:xfrm>
          <a:prstGeom prst="roundRect">
            <a:avLst/>
          </a:prstGeom>
          <a:solidFill>
            <a:srgbClr val="616161"/>
          </a:solidFill>
          <a:ln w="9525">
            <a:solidFill>
              <a:srgbClr val="616161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1">
                <a:solidFill>
                  <a:srgbClr val="FFFFFF"/>
                </a:solidFill>
                <a:latin typeface="Aptos"/>
              </a:rPr>
              <a:t>CRUD</a:t>
            </a:r>
            <a:endParaRPr lang="ca-ES" sz="2100"/>
          </a:p>
        </p:txBody>
      </p:sp>
      <p:sp>
        <p:nvSpPr>
          <p:cNvPr id="7" name="Box 7"/>
          <p:cNvSpPr/>
          <p:nvPr/>
        </p:nvSpPr>
        <p:spPr>
          <a:xfrm>
            <a:off x="9372600" y="1143000"/>
            <a:ext cx="2103120" cy="1097280"/>
          </a:xfrm>
          <a:prstGeom prst="roundRect">
            <a:avLst/>
          </a:prstGeom>
          <a:solidFill>
            <a:srgbClr val="63D297"/>
          </a:solidFill>
          <a:ln w="9525">
            <a:solidFill>
              <a:srgbClr val="63D297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1">
                <a:solidFill>
                  <a:srgbClr val="202729"/>
                </a:solidFill>
                <a:latin typeface="Aptos"/>
              </a:rPr>
              <a:t>Idiomes</a:t>
            </a:r>
            <a:endParaRPr lang="ca-ES" sz="2100"/>
          </a:p>
        </p:txBody>
      </p:sp>
      <p:sp>
        <p:nvSpPr>
          <p:cNvPr id="8" name="Box 8"/>
          <p:cNvSpPr/>
          <p:nvPr/>
        </p:nvSpPr>
        <p:spPr>
          <a:xfrm>
            <a:off x="2011680" y="3063240"/>
            <a:ext cx="26517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0">
                <a:solidFill>
                  <a:srgbClr val="1F2728"/>
                </a:solidFill>
                <a:latin typeface="Aptos"/>
              </a:rPr>
              <a:t>Preferides</a:t>
            </a:r>
            <a:endParaRPr lang="ca-ES" sz="2100"/>
          </a:p>
        </p:txBody>
      </p:sp>
      <p:sp>
        <p:nvSpPr>
          <p:cNvPr id="9" name="Box 9"/>
          <p:cNvSpPr/>
          <p:nvPr/>
        </p:nvSpPr>
        <p:spPr>
          <a:xfrm>
            <a:off x="4800600" y="3063240"/>
            <a:ext cx="26517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0">
                <a:solidFill>
                  <a:srgbClr val="1F2728"/>
                </a:solidFill>
                <a:latin typeface="Aptos"/>
              </a:rPr>
              <a:t>Opinions</a:t>
            </a:r>
            <a:endParaRPr lang="ca-ES" sz="2100"/>
          </a:p>
        </p:txBody>
      </p:sp>
      <p:sp>
        <p:nvSpPr>
          <p:cNvPr id="10" name="Box 10"/>
          <p:cNvSpPr/>
          <p:nvPr/>
        </p:nvSpPr>
        <p:spPr>
          <a:xfrm>
            <a:off x="7589520" y="3063240"/>
            <a:ext cx="2651760" cy="1097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100" b="0">
                <a:solidFill>
                  <a:srgbClr val="1F2728"/>
                </a:solidFill>
                <a:latin typeface="Aptos"/>
              </a:rPr>
              <a:t>SQLite / Firebase</a:t>
            </a:r>
            <a:endParaRPr lang="ca-ES"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Per què Flutter i Dart?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Base tecnològica del desenvolupament mòbil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234440"/>
            <a:ext cx="32918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1">
                <a:solidFill>
                  <a:srgbClr val="1F2728"/>
                </a:solidFill>
                <a:latin typeface="Aptos"/>
              </a:rPr>
              <a:t>Flutter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Una sola base de codi per a múltiples plataformes.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Material Design integrat.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Hot reload per iterar ràpidament durant el desenvolupament.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4434840" y="1234440"/>
            <a:ext cx="329184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1">
                <a:solidFill>
                  <a:srgbClr val="1F2728"/>
                </a:solidFill>
                <a:latin typeface="Aptos"/>
              </a:rPr>
              <a:t>Dart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Sintaxi clara i tipada.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Molt integrat amb Flutter.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Permet crear models, repositoris i estat de forma ordenada.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8183879" y="1234440"/>
            <a:ext cx="3291840" cy="438912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1">
                <a:solidFill>
                  <a:srgbClr val="1F2728"/>
                </a:solidFill>
                <a:latin typeface="Aptos"/>
              </a:rPr>
              <a:t>En FilmApp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Pantalles a screens/.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Components a widgets/.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Estat a AppState.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Dades a repositories/.</a:t>
            </a:r>
            <a:endParaRPr lang="ca-E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Arquitectura oficial de Flutter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Diagrama propi inspirat en Flutter Architectural Overview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1280160" y="1143000"/>
            <a:ext cx="96012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Codi de l’aplicació: widgets, estat i lògica Dart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1737360" y="2240280"/>
            <a:ext cx="8686800" cy="73152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Flutter Framework: Material, widgets, rendering, animation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2194560" y="3337560"/>
            <a:ext cx="7772400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Flutter Engine: Skia, text, runtime Dart, platform channels</a:t>
            </a:r>
            <a:endParaRPr lang="ca-ES" sz="2000"/>
          </a:p>
        </p:txBody>
      </p:sp>
      <p:sp>
        <p:nvSpPr>
          <p:cNvPr id="7" name="Box 7"/>
          <p:cNvSpPr/>
          <p:nvPr/>
        </p:nvSpPr>
        <p:spPr>
          <a:xfrm>
            <a:off x="2651760" y="4434840"/>
            <a:ext cx="6858000" cy="73152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Embedder: Android, iOS, web, desktop</a:t>
            </a:r>
            <a:endParaRPr lang="ca-ES" sz="2000"/>
          </a:p>
        </p:txBody>
      </p:sp>
      <p:cxnSp>
        <p:nvCxnSpPr>
          <p:cNvPr id="20" name="Line 20"/>
          <p:cNvCxnSpPr/>
          <p:nvPr/>
        </p:nvCxnSpPr>
        <p:spPr>
          <a:xfrm>
            <a:off x="6080760" y="1874519"/>
            <a:ext cx="9144" cy="365760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080760" y="2971800"/>
            <a:ext cx="9144" cy="365759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080760" y="4069080"/>
            <a:ext cx="9144" cy="365759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sp>
        <p:nvSpPr>
          <p:cNvPr id="8" name="Box 8"/>
          <p:cNvSpPr/>
          <p:nvPr/>
        </p:nvSpPr>
        <p:spPr>
          <a:xfrm>
            <a:off x="822960" y="5715000"/>
            <a:ext cx="10515600" cy="3200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100" b="0">
                <a:solidFill>
                  <a:srgbClr val="64748B"/>
                </a:solidFill>
                <a:latin typeface="Aptos"/>
              </a:rPr>
              <a:t>Font conceptual: Flutter docs · Architectural overview</a:t>
            </a:r>
            <a:endParaRPr lang="ca-E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Arquitectura recomanada per a apps Flutter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Separació entre UI, estat i dades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77240" y="1143000"/>
            <a:ext cx="29718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Capa UI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Screens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Widgets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Navegació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Formularis</a:t>
            </a:r>
            <a:endParaRPr lang="ca-ES" sz="1900"/>
          </a:p>
        </p:txBody>
      </p:sp>
      <p:sp>
        <p:nvSpPr>
          <p:cNvPr id="5" name="Box 5"/>
          <p:cNvSpPr/>
          <p:nvPr/>
        </p:nvSpPr>
        <p:spPr>
          <a:xfrm>
            <a:off x="4617720" y="1143000"/>
            <a:ext cx="2971800" cy="429768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Estat / lògica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Provider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AppState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ChangeNotifier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Validacions de flux</a:t>
            </a:r>
            <a:endParaRPr lang="ca-ES" sz="1900"/>
          </a:p>
        </p:txBody>
      </p:sp>
      <p:sp>
        <p:nvSpPr>
          <p:cNvPr id="6" name="Box 6"/>
          <p:cNvSpPr/>
          <p:nvPr/>
        </p:nvSpPr>
        <p:spPr>
          <a:xfrm>
            <a:off x="8458200" y="1143000"/>
            <a:ext cx="2971800" cy="4297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900" b="1">
                <a:solidFill>
                  <a:srgbClr val="1F2728"/>
                </a:solidFill>
                <a:latin typeface="Aptos"/>
              </a:rPr>
              <a:t>Capa de dades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Repositories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Services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SQLite</a:t>
            </a:r>
            <a:endParaRPr lang="ca-ES" sz="1900"/>
          </a:p>
          <a:p>
            <a:r>
              <a:rPr lang="ca-ES" sz="1900" b="0">
                <a:solidFill>
                  <a:srgbClr val="1F2728"/>
                </a:solidFill>
                <a:latin typeface="Aptos"/>
              </a:rPr>
              <a:t>Firestore</a:t>
            </a:r>
            <a:endParaRPr lang="ca-ES" sz="1900"/>
          </a:p>
        </p:txBody>
      </p:sp>
      <p:cxnSp>
        <p:nvCxnSpPr>
          <p:cNvPr id="30" name="Line 30"/>
          <p:cNvCxnSpPr/>
          <p:nvPr/>
        </p:nvCxnSpPr>
        <p:spPr>
          <a:xfrm>
            <a:off x="3749039" y="3291840"/>
            <a:ext cx="868680" cy="9144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7589520" y="3291840"/>
            <a:ext cx="868679" cy="9144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sp>
        <p:nvSpPr>
          <p:cNvPr id="7" name="Box 7"/>
          <p:cNvSpPr/>
          <p:nvPr/>
        </p:nvSpPr>
        <p:spPr>
          <a:xfrm>
            <a:off x="822960" y="5715000"/>
            <a:ext cx="10515600" cy="3200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100" b="0">
                <a:solidFill>
                  <a:srgbClr val="64748B"/>
                </a:solidFill>
                <a:latin typeface="Aptos"/>
              </a:rPr>
              <a:t>Font conceptual: Flutter docs · App architecture guide</a:t>
            </a:r>
            <a:endParaRPr lang="ca-E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Arquitectura concreta de FilmApp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Com s’aplica aquesta idea dins del projecte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97280"/>
            <a:ext cx="107899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Pantalles i widgets: login, home, detall, formularis, configuració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1325880" y="2148840"/>
            <a:ext cx="9509760" cy="6858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AppState + Provider: usuari, idioma, pel·lícules, preferides i accions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1965960" y="3200400"/>
            <a:ext cx="822960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Repositoris: AuthRepository · PeliculaRepository · OpinionRepository</a:t>
            </a:r>
            <a:endParaRPr lang="ca-ES" sz="2000"/>
          </a:p>
        </p:txBody>
      </p:sp>
      <p:sp>
        <p:nvSpPr>
          <p:cNvPr id="7" name="Box 7"/>
          <p:cNvSpPr/>
          <p:nvPr/>
        </p:nvSpPr>
        <p:spPr>
          <a:xfrm>
            <a:off x="2423160" y="4297680"/>
            <a:ext cx="3200400" cy="6858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SQLite local</a:t>
            </a:r>
            <a:endParaRPr lang="ca-ES" sz="2000"/>
          </a:p>
        </p:txBody>
      </p:sp>
      <p:sp>
        <p:nvSpPr>
          <p:cNvPr id="8" name="Box 8"/>
          <p:cNvSpPr/>
          <p:nvPr/>
        </p:nvSpPr>
        <p:spPr>
          <a:xfrm>
            <a:off x="6537960" y="4297680"/>
            <a:ext cx="3200400" cy="6858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Firebase / Firestore</a:t>
            </a:r>
            <a:endParaRPr lang="ca-ES" sz="2000"/>
          </a:p>
        </p:txBody>
      </p:sp>
      <p:cxnSp>
        <p:nvCxnSpPr>
          <p:cNvPr id="20" name="Line 20"/>
          <p:cNvCxnSpPr/>
          <p:nvPr/>
        </p:nvCxnSpPr>
        <p:spPr>
          <a:xfrm>
            <a:off x="6080760" y="1783080"/>
            <a:ext cx="9144" cy="365760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080760" y="2834640"/>
            <a:ext cx="9144" cy="365759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4023360" y="3886200"/>
            <a:ext cx="2057400" cy="411480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080760" y="3886200"/>
            <a:ext cx="2057400" cy="411480"/>
          </a:xfrm>
          <a:prstGeom prst="line">
            <a:avLst/>
          </a:prstGeom>
          <a:ln w="28575">
            <a:solidFill>
              <a:srgbClr val="A7F3D0"/>
            </a:solidFill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Fases de desenvolupament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Ordre lògic seguit per construir l’aplicació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097280"/>
            <a:ext cx="107899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1. Anàlisi de requisits i definició de pantalles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731520" y="1874519"/>
            <a:ext cx="10789920" cy="5943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2. Creació del projecte Flutter i estructura de carpetes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731520" y="2651760"/>
            <a:ext cx="107899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3. Models, base SQLite i dades inicials</a:t>
            </a:r>
            <a:endParaRPr lang="ca-ES" sz="2000"/>
          </a:p>
        </p:txBody>
      </p:sp>
      <p:sp>
        <p:nvSpPr>
          <p:cNvPr id="7" name="Box 7"/>
          <p:cNvSpPr/>
          <p:nvPr/>
        </p:nvSpPr>
        <p:spPr>
          <a:xfrm>
            <a:off x="731520" y="3429000"/>
            <a:ext cx="10789920" cy="5943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4. Provider/AppState i repositoris</a:t>
            </a:r>
            <a:endParaRPr lang="ca-ES" sz="2000"/>
          </a:p>
        </p:txBody>
      </p:sp>
      <p:sp>
        <p:nvSpPr>
          <p:cNvPr id="8" name="Box 8"/>
          <p:cNvSpPr/>
          <p:nvPr/>
        </p:nvSpPr>
        <p:spPr>
          <a:xfrm>
            <a:off x="731520" y="4206240"/>
            <a:ext cx="10789920" cy="594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5. Pantalles, navegació, CRUD, preferides i opinions</a:t>
            </a:r>
            <a:endParaRPr lang="ca-ES" sz="2000"/>
          </a:p>
        </p:txBody>
      </p:sp>
      <p:sp>
        <p:nvSpPr>
          <p:cNvPr id="9" name="Box 9"/>
          <p:cNvSpPr/>
          <p:nvPr/>
        </p:nvSpPr>
        <p:spPr>
          <a:xfrm>
            <a:off x="731520" y="4983480"/>
            <a:ext cx="10789920" cy="5943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0">
                <a:solidFill>
                  <a:srgbClr val="1F2728"/>
                </a:solidFill>
                <a:latin typeface="Aptos"/>
              </a:rPr>
              <a:t>6. Firebase, idiomes i proves del flux principal</a:t>
            </a:r>
            <a:endParaRPr lang="ca-ES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Tecnologies al projecte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Dependències reals que apareixen al pubspec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97280"/>
            <a:ext cx="4800600" cy="4663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Eines principals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Flutter i Dart per a la base de l’app.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Provider per a l’estat global.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SQLite per al mode local.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Firebase Auth i Cloud Firestore per al backend remot.</a:t>
            </a:r>
            <a:endParaRPr lang="ca-ES" sz="2100"/>
          </a:p>
        </p:txBody>
      </p:sp>
      <p:sp>
        <p:nvSpPr>
          <p:cNvPr id="5" name="Box 5"/>
          <p:cNvSpPr/>
          <p:nvPr/>
        </p:nvSpPr>
        <p:spPr>
          <a:xfrm>
            <a:off x="5897880" y="1097280"/>
            <a:ext cx="5486400" cy="466344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pubspec.yaml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dependencies: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sqflite: ^2.3.3+1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provider: ^6.1.5+1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firebase_core: ^4.9.0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firebase_auth: ^6.5.1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cloud_firestore: ^6.4.1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flutter_localizations: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sdk: flutter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intl: ^0.19.0</a:t>
            </a:r>
            <a:endParaRPr lang="ca-ES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Gestió de l’estat amb Provider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Sincronització entre dades i interfície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143000"/>
            <a:ext cx="480060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Decisió tècnica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Provider és suficient per al tamany del projecte.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AppState centralitza usuari, idioma, pel·lícules i preferides.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La UI no accedeix directament ni a SQLite ni a Firestore.</a:t>
            </a:r>
            <a:endParaRPr lang="ca-ES" sz="2100"/>
          </a:p>
        </p:txBody>
      </p:sp>
      <p:sp>
        <p:nvSpPr>
          <p:cNvPr id="5" name="Box 5"/>
          <p:cNvSpPr/>
          <p:nvPr/>
        </p:nvSpPr>
        <p:spPr>
          <a:xfrm>
            <a:off x="5897880" y="1143000"/>
            <a:ext cx="5486400" cy="448056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lib/app.dart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return ChangeNotifierProvider(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create: (_) =&gt; AppState(),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child: Consumer&lt;AppState&gt;(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builder: (context, appState, _)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return MaterialApp(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locale: appState.locale,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home: appState.isAuthenticated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  ? const MainNavigationScreen()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  : const LoginScreen(),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},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),</a:t>
            </a:r>
            <a:endParaRPr lang="ca-E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Autenticació i càrrega inicial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On canvia l’estat de sessió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51560"/>
            <a:ext cx="5486400" cy="4800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lib/state/app_state.dart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Future&lt;AuthResponse&gt; login(String name, String password) async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final response = await authRepository.login(name, password);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if (response.result == AuthResult.success &amp;&amp; response.user != null)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await _setAuthenticatedUser(response.user!);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}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return response;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}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/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Future&lt;void&gt; _setAuthenticatedUser(AppUser authenticatedUser) async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_user = authenticatedUser;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_locale = Locale(authenticatedUser.languageCode);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notifyListeners();</a:t>
            </a:r>
            <a:endParaRPr lang="ca-ES" sz="1000"/>
          </a:p>
        </p:txBody>
      </p:sp>
      <p:sp>
        <p:nvSpPr>
          <p:cNvPr id="5" name="Box 5"/>
          <p:cNvSpPr/>
          <p:nvPr/>
        </p:nvSpPr>
        <p:spPr>
          <a:xfrm>
            <a:off x="6583680" y="1051560"/>
            <a:ext cx="47548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Què demostra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Després d’autenticar, l’app guarda l’usuari, aplica el seu idioma, notifica la interfície i carrega les seues pel·lícules.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Aquest és el punt exacte on es passa del login a la navegació principal.</a:t>
            </a:r>
            <a:endParaRPr lang="ca-ES"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Model de dades local amb SQLite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Persistència per a desenvolupament, proves i demo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77240" y="1097280"/>
            <a:ext cx="22402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usuarios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3657600" y="1097280"/>
            <a:ext cx="2240280" cy="77724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peliculas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6537960" y="1097280"/>
            <a:ext cx="2240280" cy="777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opiniones</a:t>
            </a:r>
            <a:endParaRPr lang="ca-ES" sz="2000"/>
          </a:p>
        </p:txBody>
      </p:sp>
      <p:sp>
        <p:nvSpPr>
          <p:cNvPr id="7" name="Box 7"/>
          <p:cNvSpPr/>
          <p:nvPr/>
        </p:nvSpPr>
        <p:spPr>
          <a:xfrm>
            <a:off x="9144000" y="1097280"/>
            <a:ext cx="2240280" cy="77724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0">
                <a:solidFill>
                  <a:srgbClr val="1F2728"/>
                </a:solidFill>
                <a:latin typeface="Aptos"/>
              </a:rPr>
              <a:t>favoritas</a:t>
            </a:r>
            <a:endParaRPr lang="ca-ES" sz="2000"/>
          </a:p>
        </p:txBody>
      </p:sp>
      <p:cxnSp>
        <p:nvCxnSpPr>
          <p:cNvPr id="20" name="Line 20"/>
          <p:cNvCxnSpPr/>
          <p:nvPr/>
        </p:nvCxnSpPr>
        <p:spPr>
          <a:xfrm>
            <a:off x="1901952" y="1874519"/>
            <a:ext cx="8366760" cy="9144"/>
          </a:xfrm>
          <a:prstGeom prst="line">
            <a:avLst/>
          </a:prstGeom>
          <a:ln w="28575">
            <a:solidFill>
              <a:srgbClr val="CBD5E1"/>
            </a:solidFill>
          </a:ln>
        </p:spPr>
      </p:cxnSp>
      <p:sp>
        <p:nvSpPr>
          <p:cNvPr id="8" name="Box 8"/>
          <p:cNvSpPr/>
          <p:nvPr/>
        </p:nvSpPr>
        <p:spPr>
          <a:xfrm>
            <a:off x="914400" y="2834640"/>
            <a:ext cx="104241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300" b="1">
                <a:solidFill>
                  <a:srgbClr val="1F2728"/>
                </a:solidFill>
                <a:latin typeface="Aptos"/>
              </a:rPr>
              <a:t>Idea principal</a:t>
            </a:r>
            <a:endParaRPr lang="ca-ES" sz="2300"/>
          </a:p>
          <a:p>
            <a:r>
              <a:rPr lang="ca-ES" sz="2300" b="0">
                <a:solidFill>
                  <a:srgbClr val="1F2728"/>
                </a:solidFill>
                <a:latin typeface="Aptos"/>
              </a:rPr>
              <a:t>SQLite permet que l’aplicació funcione encara que Firebase no estiga configurat. Les taules separen usuaris, catàleg, opinions i la relació de preferides per usuari.</a:t>
            </a:r>
            <a:endParaRPr lang="ca-ES" sz="2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Model de dades a Firestore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Col·leccions i documents per al backend remot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097280"/>
            <a:ext cx="24688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1800" b="0">
                <a:solidFill>
                  <a:srgbClr val="1F2728"/>
                </a:solidFill>
                <a:latin typeface="Aptos"/>
              </a:rPr>
              <a:t>usuarios/{uid}</a:t>
            </a:r>
            <a:endParaRPr lang="ca-ES" sz="1800"/>
          </a:p>
        </p:txBody>
      </p:sp>
      <p:sp>
        <p:nvSpPr>
          <p:cNvPr id="5" name="Box 5"/>
          <p:cNvSpPr/>
          <p:nvPr/>
        </p:nvSpPr>
        <p:spPr>
          <a:xfrm>
            <a:off x="3657600" y="1097280"/>
            <a:ext cx="2468880" cy="9144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1800" b="0">
                <a:solidFill>
                  <a:srgbClr val="1F2728"/>
                </a:solidFill>
                <a:latin typeface="Aptos"/>
              </a:rPr>
              <a:t>peliculas/{id}</a:t>
            </a:r>
            <a:endParaRPr lang="ca-ES" sz="1800"/>
          </a:p>
        </p:txBody>
      </p:sp>
      <p:sp>
        <p:nvSpPr>
          <p:cNvPr id="6" name="Box 6"/>
          <p:cNvSpPr/>
          <p:nvPr/>
        </p:nvSpPr>
        <p:spPr>
          <a:xfrm>
            <a:off x="6583680" y="1097280"/>
            <a:ext cx="24688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1800" b="0">
                <a:solidFill>
                  <a:srgbClr val="1F2728"/>
                </a:solidFill>
                <a:latin typeface="Aptos"/>
              </a:rPr>
              <a:t>opiniones/{id}</a:t>
            </a:r>
            <a:endParaRPr lang="ca-ES" sz="1800"/>
          </a:p>
        </p:txBody>
      </p:sp>
      <p:sp>
        <p:nvSpPr>
          <p:cNvPr id="7" name="Box 7"/>
          <p:cNvSpPr/>
          <p:nvPr/>
        </p:nvSpPr>
        <p:spPr>
          <a:xfrm>
            <a:off x="9144000" y="1097280"/>
            <a:ext cx="2468880" cy="9144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1500" b="0">
                <a:solidFill>
                  <a:srgbClr val="1F2728"/>
                </a:solidFill>
                <a:latin typeface="Aptos"/>
              </a:rPr>
              <a:t>peliculas_favoritas/{usuario_pelicula}</a:t>
            </a:r>
            <a:endParaRPr lang="ca-ES" sz="1500"/>
          </a:p>
        </p:txBody>
      </p:sp>
      <p:sp>
        <p:nvSpPr>
          <p:cNvPr id="8" name="Box 8"/>
          <p:cNvSpPr/>
          <p:nvPr/>
        </p:nvSpPr>
        <p:spPr>
          <a:xfrm>
            <a:off x="960120" y="2788920"/>
            <a:ext cx="1033272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300" b="1">
                <a:solidFill>
                  <a:srgbClr val="1F2728"/>
                </a:solidFill>
                <a:latin typeface="Aptos"/>
              </a:rPr>
              <a:t>Disseny</a:t>
            </a:r>
            <a:endParaRPr lang="ca-ES" sz="2300"/>
          </a:p>
          <a:p>
            <a:r>
              <a:rPr lang="ca-ES" sz="2300" b="0">
                <a:solidFill>
                  <a:srgbClr val="1F2728"/>
                </a:solidFill>
                <a:latin typeface="Aptos"/>
              </a:rPr>
              <a:t>Firestore organitza les dades en col·leccions i documents. En FilmApp es manté una estructura equivalent a SQLite per poder explicar fàcilment la correspondència entre local i remot.</a:t>
            </a:r>
            <a:endParaRPr lang="ca-ES" sz="2300"/>
          </a:p>
        </p:txBody>
      </p:sp>
      <p:sp>
        <p:nvSpPr>
          <p:cNvPr id="9" name="Box 9"/>
          <p:cNvSpPr/>
          <p:nvPr/>
        </p:nvSpPr>
        <p:spPr>
          <a:xfrm>
            <a:off x="822960" y="5715000"/>
            <a:ext cx="10515600" cy="32004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100" b="0">
                <a:solidFill>
                  <a:srgbClr val="64748B"/>
                </a:solidFill>
                <a:latin typeface="Aptos"/>
              </a:rPr>
              <a:t>Font conceptual: Firebase docs · Cloud Firestore data model</a:t>
            </a:r>
            <a:endParaRPr lang="ca-E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Repositoris: persistència local o remota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La UI no necessita saber d’on venen les dades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05840"/>
            <a:ext cx="5669280" cy="493776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lib/repositories/pelicula_repository.dart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Future&lt;List&lt;Pelicula&gt;&gt; obtenerPeliculas(int usuarioId) async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if (FirebaseService.isAvailable)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await _ensureRemoteSeedData();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final favoriteIds = await _getRemoteFavoriteIds(usuarioId);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final snapshot = await _peliculas.orderBy('titulo').get();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return snapshot.docs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.map((doc) =&gt; _remoteMovieFromDoc(doc, favoriteIds))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  .toList();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}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/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final db = await DatabaseHelper.instance.database;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// consulta SQLite local</a:t>
            </a:r>
            <a:endParaRPr lang="ca-ES" sz="1000"/>
          </a:p>
        </p:txBody>
      </p:sp>
      <p:sp>
        <p:nvSpPr>
          <p:cNvPr id="5" name="Box 5"/>
          <p:cNvSpPr/>
          <p:nvPr/>
        </p:nvSpPr>
        <p:spPr>
          <a:xfrm>
            <a:off x="6720840" y="1005840"/>
            <a:ext cx="4617720" cy="49377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Defensa tècnica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La pantalla demana dades a l’estat.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L’estat demana dades al repositori.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El repositori decideix entre Firestore o SQLite.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Això evita duplicar pantalles i manté el projecte escalable.</a:t>
            </a:r>
            <a:endParaRPr lang="ca-ES" sz="2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Navegació i experiència d’usuari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Pestanyes principals de l’aplicació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097280"/>
            <a:ext cx="2423160" cy="960120"/>
          </a:xfrm>
          <a:prstGeom prst="roundRect">
            <a:avLst/>
          </a:prstGeom>
          <a:solidFill>
            <a:srgbClr val="202729"/>
          </a:solidFill>
          <a:ln w="9525">
            <a:solidFill>
              <a:srgbClr val="202729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1">
                <a:solidFill>
                  <a:srgbClr val="FFFFFF"/>
                </a:solidFill>
                <a:latin typeface="Aptos"/>
              </a:rPr>
              <a:t>Pel·lícules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3429000" y="1097280"/>
            <a:ext cx="2423160" cy="960120"/>
          </a:xfrm>
          <a:prstGeom prst="roundRect">
            <a:avLst/>
          </a:prstGeom>
          <a:solidFill>
            <a:srgbClr val="4BA173"/>
          </a:solidFill>
          <a:ln w="9525">
            <a:solidFill>
              <a:srgbClr val="4BA173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1">
                <a:solidFill>
                  <a:srgbClr val="FFFFFF"/>
                </a:solidFill>
                <a:latin typeface="Aptos"/>
              </a:rPr>
              <a:t>Preferides</a:t>
            </a:r>
            <a:endParaRPr lang="ca-ES" sz="2000"/>
          </a:p>
        </p:txBody>
      </p:sp>
      <p:sp>
        <p:nvSpPr>
          <p:cNvPr id="6" name="Box 6"/>
          <p:cNvSpPr/>
          <p:nvPr/>
        </p:nvSpPr>
        <p:spPr>
          <a:xfrm>
            <a:off x="6126480" y="1097280"/>
            <a:ext cx="2423160" cy="960120"/>
          </a:xfrm>
          <a:prstGeom prst="roundRect">
            <a:avLst/>
          </a:prstGeom>
          <a:solidFill>
            <a:srgbClr val="616161"/>
          </a:solidFill>
          <a:ln w="9525">
            <a:solidFill>
              <a:srgbClr val="616161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1">
                <a:solidFill>
                  <a:srgbClr val="FFFFFF"/>
                </a:solidFill>
                <a:latin typeface="Aptos"/>
              </a:rPr>
              <a:t>Afegir</a:t>
            </a:r>
            <a:endParaRPr lang="ca-ES" sz="2000"/>
          </a:p>
        </p:txBody>
      </p:sp>
      <p:sp>
        <p:nvSpPr>
          <p:cNvPr id="7" name="Box 7"/>
          <p:cNvSpPr/>
          <p:nvPr/>
        </p:nvSpPr>
        <p:spPr>
          <a:xfrm>
            <a:off x="8823960" y="1097280"/>
            <a:ext cx="2423160" cy="960120"/>
          </a:xfrm>
          <a:prstGeom prst="roundRect">
            <a:avLst/>
          </a:prstGeom>
          <a:solidFill>
            <a:srgbClr val="63D297"/>
          </a:solidFill>
          <a:ln w="9525">
            <a:solidFill>
              <a:srgbClr val="63D297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000" b="1">
                <a:solidFill>
                  <a:srgbClr val="202729"/>
                </a:solidFill>
                <a:latin typeface="Aptos"/>
              </a:rPr>
              <a:t>Configuració</a:t>
            </a:r>
            <a:endParaRPr lang="ca-ES" sz="2000"/>
          </a:p>
        </p:txBody>
      </p:sp>
      <p:sp>
        <p:nvSpPr>
          <p:cNvPr id="8" name="Box 8"/>
          <p:cNvSpPr/>
          <p:nvPr/>
        </p:nvSpPr>
        <p:spPr>
          <a:xfrm>
            <a:off x="914400" y="2743200"/>
            <a:ext cx="10424160" cy="269748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lib/screens/main_navigation_screen.dart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final screens = [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HomeScreen(user: user),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HomeScreen(user: user, onlyFavorites: true),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AddPeliculaScreen(user: user, closeAfterSave: false),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const SettingsScreen(),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];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/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body: IndexedStack(index: selectedIndex, children: screens)</a:t>
            </a:r>
            <a:endParaRPr lang="ca-ES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Alta, edició i esborrat de pel·lícules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CRUD complet del catàleg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143000"/>
            <a:ext cx="32461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Alta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Formulari validat per crear una pel·lícula nova amb les seues dades principals.</a:t>
            </a:r>
            <a:endParaRPr lang="ca-ES" sz="2200"/>
          </a:p>
        </p:txBody>
      </p:sp>
      <p:sp>
        <p:nvSpPr>
          <p:cNvPr id="5" name="Box 5"/>
          <p:cNvSpPr/>
          <p:nvPr/>
        </p:nvSpPr>
        <p:spPr>
          <a:xfrm>
            <a:off x="4480560" y="1143000"/>
            <a:ext cx="3246120" cy="438912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Edició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El mateix formulari es reutilitza si rep una pel·lícula existent.</a:t>
            </a:r>
            <a:endParaRPr lang="ca-ES" sz="2200"/>
          </a:p>
        </p:txBody>
      </p:sp>
      <p:sp>
        <p:nvSpPr>
          <p:cNvPr id="6" name="Box 6"/>
          <p:cNvSpPr/>
          <p:nvPr/>
        </p:nvSpPr>
        <p:spPr>
          <a:xfrm>
            <a:off x="8229600" y="1143000"/>
            <a:ext cx="3246120" cy="4389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Esborrat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El detall demana confirmació abans d’eliminar la pel·lícula i les dades relacionades.</a:t>
            </a:r>
            <a:endParaRPr lang="ca-ES" sz="2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Preferides i opinions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Personalització i valoració del contingut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143000"/>
            <a:ext cx="5074920" cy="44805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400" b="1">
                <a:solidFill>
                  <a:srgbClr val="1F2728"/>
                </a:solidFill>
                <a:latin typeface="Aptos"/>
              </a:rPr>
              <a:t>Sistema de preferides</a:t>
            </a:r>
            <a:endParaRPr lang="ca-ES" sz="2400"/>
          </a:p>
          <a:p>
            <a:r>
              <a:rPr lang="ca-ES" sz="2400" b="0">
                <a:solidFill>
                  <a:srgbClr val="1F2728"/>
                </a:solidFill>
                <a:latin typeface="Aptos"/>
              </a:rPr>
              <a:t>Es guarda una relació usuari-pel·lícula, no una dada global de la pel·lícula. Així cada usuari té la seua pròpia llista.</a:t>
            </a:r>
            <a:endParaRPr lang="ca-ES" sz="2400"/>
          </a:p>
        </p:txBody>
      </p:sp>
      <p:sp>
        <p:nvSpPr>
          <p:cNvPr id="5" name="Box 5"/>
          <p:cNvSpPr/>
          <p:nvPr/>
        </p:nvSpPr>
        <p:spPr>
          <a:xfrm>
            <a:off x="6400800" y="1143000"/>
            <a:ext cx="507492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400" b="1">
                <a:solidFill>
                  <a:srgbClr val="1F2728"/>
                </a:solidFill>
                <a:latin typeface="Aptos"/>
              </a:rPr>
              <a:t>Opinions</a:t>
            </a:r>
            <a:endParaRPr lang="ca-ES" sz="2400"/>
          </a:p>
          <a:p>
            <a:r>
              <a:rPr lang="ca-ES" sz="2400" b="0">
                <a:solidFill>
                  <a:srgbClr val="1F2728"/>
                </a:solidFill>
                <a:latin typeface="Aptos"/>
              </a:rPr>
              <a:t>Cada pel·lícula pot rebre comentaris i valoracions. L’app calcula la mitjana per mostrar-la al llistat i al detall.</a:t>
            </a:r>
            <a:endParaRPr lang="ca-ES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Firebase opcional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La mateixa app pot funcionar en local o en remot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51560"/>
            <a:ext cx="5486400" cy="480060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lib/services/firebase_service.dart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static Future&lt;void&gt; initialize() async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try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await Firebase.initializeApp(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  options: DefaultFirebaseOptions.currentPlatform,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_isAvailable = true;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_initializationError = null;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} catch (error) {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_isAvailable = false;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  _initializationError = error;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  }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}</a:t>
            </a:r>
            <a:endParaRPr lang="ca-ES" sz="1000"/>
          </a:p>
        </p:txBody>
      </p:sp>
      <p:sp>
        <p:nvSpPr>
          <p:cNvPr id="5" name="Box 5"/>
          <p:cNvSpPr/>
          <p:nvPr/>
        </p:nvSpPr>
        <p:spPr>
          <a:xfrm>
            <a:off x="6583680" y="1051560"/>
            <a:ext cx="4754880" cy="4800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Què demostra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Centralitze la disponibilitat de Firebase en un servei.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Els repositoris consulten FirebaseService.isAvailable.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Això permet demo local i backend remot amb el mateix codi d’interfície.</a:t>
            </a:r>
            <a:endParaRPr lang="ca-ES" sz="2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Multiidioma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Català/Valencià, Castellano i English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188720"/>
            <a:ext cx="324612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Idiomes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L’app suporta tres locales des d’AppLocalizations.</a:t>
            </a:r>
            <a:endParaRPr lang="ca-ES" sz="2200"/>
          </a:p>
        </p:txBody>
      </p:sp>
      <p:sp>
        <p:nvSpPr>
          <p:cNvPr id="5" name="Box 5"/>
          <p:cNvSpPr/>
          <p:nvPr/>
        </p:nvSpPr>
        <p:spPr>
          <a:xfrm>
            <a:off x="4480560" y="1188720"/>
            <a:ext cx="3246120" cy="42519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Usuari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L’idioma es guarda al perfil de l’usuari.</a:t>
            </a:r>
            <a:endParaRPr lang="ca-ES" sz="2200"/>
          </a:p>
        </p:txBody>
      </p:sp>
      <p:sp>
        <p:nvSpPr>
          <p:cNvPr id="6" name="Box 6"/>
          <p:cNvSpPr/>
          <p:nvPr/>
        </p:nvSpPr>
        <p:spPr>
          <a:xfrm>
            <a:off x="8229600" y="1188720"/>
            <a:ext cx="3246120" cy="42519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Settings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L’usuari pot canviar-lo des de configuració.</a:t>
            </a:r>
            <a:endParaRPr lang="ca-ES" sz="2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Proves del flux principal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Validació automàtica del comportament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051560"/>
            <a:ext cx="4937760" cy="4846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000" b="1">
                <a:solidFill>
                  <a:srgbClr val="1F2728"/>
                </a:solidFill>
                <a:latin typeface="Aptos"/>
              </a:rPr>
              <a:t>Què cobreix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Arrencada.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Registre.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Càrrega de pel·lícules.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Cerca.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Preferides.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Esborrat.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Canvi d’idioma.</a:t>
            </a:r>
            <a:endParaRPr lang="ca-ES" sz="2000"/>
          </a:p>
          <a:p>
            <a:r>
              <a:rPr lang="ca-ES" sz="2000" b="0">
                <a:solidFill>
                  <a:srgbClr val="1F2728"/>
                </a:solidFill>
                <a:latin typeface="Aptos"/>
              </a:rPr>
              <a:t>Logout i nou login.</a:t>
            </a:r>
            <a:endParaRPr lang="ca-ES" sz="2000"/>
          </a:p>
        </p:txBody>
      </p:sp>
      <p:sp>
        <p:nvSpPr>
          <p:cNvPr id="5" name="Box 5"/>
          <p:cNvSpPr/>
          <p:nvPr/>
        </p:nvSpPr>
        <p:spPr>
          <a:xfrm>
            <a:off x="6035040" y="1051560"/>
            <a:ext cx="5349240" cy="4846320"/>
          </a:xfrm>
          <a:prstGeom prst="roundRect">
            <a:avLst/>
          </a:prstGeom>
          <a:solidFill>
            <a:srgbClr val="111827"/>
          </a:solidFill>
          <a:ln w="9525">
            <a:solidFill>
              <a:srgbClr val="374151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000" b="1">
                <a:solidFill>
                  <a:srgbClr val="E5E7EB"/>
                </a:solidFill>
                <a:latin typeface="Consolas"/>
              </a:rPr>
              <a:t>test/widget_test.dart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tester.pumpWidget(const FilmApp());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tester.pump(const Duration(seconds: 6));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/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tester.tap(find.widgetWithText(TextButton, 'Crear usuari'));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tester.enterText(find.byType(TextFormField).at(0), 'Tester');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tester.enterText(find.byType(TextFormField).at(1), 'secret');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await tester.tap(find.text('Crear usuari').last);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/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expect(find.text('Interstellar'), findsOneWidget);</a:t>
            </a:r>
            <a:endParaRPr lang="ca-ES" sz="1000"/>
          </a:p>
          <a:p>
            <a:r>
              <a:rPr lang="ca-ES" sz="1000" b="0">
                <a:solidFill>
                  <a:srgbClr val="E5E7EB"/>
                </a:solidFill>
                <a:latin typeface="Consolas"/>
              </a:rPr>
              <a:t>expect(find.text('Preferides'), findsOneWidget);</a:t>
            </a:r>
            <a:endParaRPr lang="ca-ES" sz="1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Problemes trobats i decisions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Aspectes que puc defensar tècnicament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685800" y="1143000"/>
            <a:ext cx="333756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Estat entre pantalles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Solució: AppState + Provider per centralitzar els canvis.</a:t>
            </a:r>
            <a:endParaRPr lang="ca-ES" sz="2100"/>
          </a:p>
        </p:txBody>
      </p:sp>
      <p:sp>
        <p:nvSpPr>
          <p:cNvPr id="5" name="Box 5"/>
          <p:cNvSpPr/>
          <p:nvPr/>
        </p:nvSpPr>
        <p:spPr>
          <a:xfrm>
            <a:off x="4434840" y="1143000"/>
            <a:ext cx="3337560" cy="43434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Firebase no configurat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Solució: fallback local amb SQLite sense trencar l’app.</a:t>
            </a:r>
            <a:endParaRPr lang="ca-ES" sz="2100"/>
          </a:p>
        </p:txBody>
      </p:sp>
      <p:sp>
        <p:nvSpPr>
          <p:cNvPr id="6" name="Box 6"/>
          <p:cNvSpPr/>
          <p:nvPr/>
        </p:nvSpPr>
        <p:spPr>
          <a:xfrm>
            <a:off x="8183879" y="1143000"/>
            <a:ext cx="333756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100" b="1">
                <a:solidFill>
                  <a:srgbClr val="1F2728"/>
                </a:solidFill>
                <a:latin typeface="Aptos"/>
              </a:rPr>
              <a:t>Preferides per usuari</a:t>
            </a:r>
            <a:endParaRPr lang="ca-ES" sz="2100"/>
          </a:p>
          <a:p>
            <a:r>
              <a:rPr lang="ca-ES" sz="2100" b="0">
                <a:solidFill>
                  <a:srgbClr val="1F2728"/>
                </a:solidFill>
                <a:latin typeface="Aptos"/>
              </a:rPr>
              <a:t>Solució: taula/col·lecció pont en lloc d’un favorit global.</a:t>
            </a:r>
            <a:endParaRPr lang="ca-ES" sz="2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502920" y="320040"/>
            <a:ext cx="7498079" cy="502920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700" b="1">
                <a:solidFill>
                  <a:srgbClr val="111827"/>
                </a:solidFill>
                <a:latin typeface="Aptos"/>
              </a:rPr>
              <a:t>Possibles millores futures</a:t>
            </a:r>
            <a:endParaRPr lang="ca-ES" sz="2700"/>
          </a:p>
        </p:txBody>
      </p:sp>
      <p:sp>
        <p:nvSpPr>
          <p:cNvPr id="3" name="Box 3"/>
          <p:cNvSpPr/>
          <p:nvPr/>
        </p:nvSpPr>
        <p:spPr>
          <a:xfrm>
            <a:off x="530352" y="841248"/>
            <a:ext cx="886968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F8FAFC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1300" b="0">
                <a:solidFill>
                  <a:srgbClr val="64748B"/>
                </a:solidFill>
                <a:latin typeface="Aptos"/>
              </a:rPr>
              <a:t>Evolució natural del projecte</a:t>
            </a:r>
            <a:endParaRPr lang="ca-ES" sz="1300"/>
          </a:p>
        </p:txBody>
      </p:sp>
      <p:sp>
        <p:nvSpPr>
          <p:cNvPr id="4" name="Box 4"/>
          <p:cNvSpPr/>
          <p:nvPr/>
        </p:nvSpPr>
        <p:spPr>
          <a:xfrm>
            <a:off x="731520" y="1143000"/>
            <a:ext cx="324612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Caràtules reals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Pujar imatges o seleccionar-les des de la galeria.</a:t>
            </a:r>
            <a:endParaRPr lang="ca-ES" sz="2200"/>
          </a:p>
        </p:txBody>
      </p:sp>
      <p:sp>
        <p:nvSpPr>
          <p:cNvPr id="5" name="Box 5"/>
          <p:cNvSpPr/>
          <p:nvPr/>
        </p:nvSpPr>
        <p:spPr>
          <a:xfrm>
            <a:off x="4480560" y="1143000"/>
            <a:ext cx="3246120" cy="434340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Cerca avançada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Filtrar per director, gènere, any i valoració.</a:t>
            </a:r>
            <a:endParaRPr lang="ca-ES" sz="2200"/>
          </a:p>
        </p:txBody>
      </p:sp>
      <p:sp>
        <p:nvSpPr>
          <p:cNvPr id="6" name="Box 6"/>
          <p:cNvSpPr/>
          <p:nvPr/>
        </p:nvSpPr>
        <p:spPr>
          <a:xfrm>
            <a:off x="8229600" y="1143000"/>
            <a:ext cx="3246120" cy="4343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Rols i permisos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Regles Firestore més estrictes per a edició i esborrat.</a:t>
            </a:r>
            <a:endParaRPr lang="ca-ES" sz="22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x 2"/>
          <p:cNvSpPr/>
          <p:nvPr/>
        </p:nvSpPr>
        <p:spPr>
          <a:xfrm>
            <a:off x="731520" y="548640"/>
            <a:ext cx="10698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3600" b="1">
                <a:solidFill>
                  <a:srgbClr val="202729"/>
                </a:solidFill>
                <a:latin typeface="Aptos"/>
              </a:rPr>
              <a:t>Fonts i tancament</a:t>
            </a:r>
            <a:endParaRPr lang="ca-ES" sz="3600"/>
          </a:p>
        </p:txBody>
      </p:sp>
      <p:sp>
        <p:nvSpPr>
          <p:cNvPr id="3" name="Box 3"/>
          <p:cNvSpPr/>
          <p:nvPr/>
        </p:nvSpPr>
        <p:spPr>
          <a:xfrm>
            <a:off x="960120" y="1645920"/>
            <a:ext cx="1028700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anchor="top" lIns="152400" tIns="91440" rIns="152400" bIns="91440">
            <a:spAutoFit/>
          </a:bodyPr>
          <a:lstStyle/>
          <a:p>
            <a:r>
              <a:rPr lang="ca-ES" sz="2200" b="1">
                <a:solidFill>
                  <a:srgbClr val="1F2728"/>
                </a:solidFill>
                <a:latin typeface="Aptos"/>
              </a:rPr>
              <a:t>Fonts conceptuals dels diagrames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Flutter docs: Architectural overview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Flutter docs: App architecture guide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Firebase docs: Cloud Firestore data model</a:t>
            </a:r>
            <a:endParaRPr lang="ca-ES" sz="2200"/>
          </a:p>
          <a:p>
            <a:r>
              <a:rPr lang="ca-ES" sz="2200" b="0">
                <a:solidFill>
                  <a:srgbClr val="1F2728"/>
                </a:solidFill>
                <a:latin typeface="Aptos"/>
              </a:rPr>
              <a:t>Provider package documentation</a:t>
            </a:r>
            <a:endParaRPr lang="ca-ES" sz="2200"/>
          </a:p>
        </p:txBody>
      </p:sp>
      <p:sp>
        <p:nvSpPr>
          <p:cNvPr id="4" name="Box 4"/>
          <p:cNvSpPr/>
          <p:nvPr/>
        </p:nvSpPr>
        <p:spPr>
          <a:xfrm>
            <a:off x="1920240" y="5166360"/>
            <a:ext cx="8321040" cy="594360"/>
          </a:xfrm>
          <a:prstGeom prst="roundRect">
            <a:avLst/>
          </a:prstGeom>
          <a:solidFill>
            <a:srgbClr val="E7F8EF"/>
          </a:solidFill>
          <a:ln w="9525">
            <a:solidFill>
              <a:srgbClr val="B7EACD"/>
            </a:solidFill>
          </a:ln>
        </p:spPr>
        <p:txBody>
          <a:bodyPr wrap="square" anchor="mid" lIns="152400" tIns="91440" rIns="152400" bIns="91440">
            <a:spAutoFit/>
          </a:bodyPr>
          <a:lstStyle/>
          <a:p algn="ctr">
            <a:r>
              <a:rPr lang="ca-ES" sz="2200" b="1">
                <a:solidFill>
                  <a:srgbClr val="276749"/>
                </a:solidFill>
                <a:latin typeface="Aptos"/>
              </a:rPr>
              <a:t>Gràcies. Demo de l’aplicació i preguntes.</a:t>
            </a:r>
            <a:endParaRPr lang="ca-ES"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App">
  <a:themeElements>
    <a:clrScheme name="FilmApp">
      <a:dk1>
        <a:srgbClr val="202729"/>
      </a:dk1>
      <a:lt1>
        <a:srgbClr val="FFFFFF"/>
      </a:lt1>
      <a:dk2>
        <a:srgbClr val="4BA173"/>
      </a:dk2>
      <a:lt2>
        <a:srgbClr val="E7F8EF"/>
      </a:lt2>
      <a:accent1>
        <a:srgbClr val="63D297"/>
      </a:accent1>
      <a:accent2>
        <a:srgbClr val="4BA173"/>
      </a:accent2>
      <a:accent3>
        <a:srgbClr val="616161"/>
      </a:accent3>
      <a:accent4>
        <a:srgbClr val="999999"/>
      </a:accent4>
      <a:accent5>
        <a:srgbClr val="E0E0FF"/>
      </a:accent5>
      <a:accent6>
        <a:srgbClr val="FFF176"/>
      </a:accent6>
      <a:hlink>
        <a:srgbClr val="63D297"/>
      </a:hlink>
      <a:folHlink>
        <a:srgbClr val="FF5252"/>
      </a:folHlink>
    </a:clrScheme>
    <a:fontScheme name="FilmApp">
      <a:majorFont>
        <a:latin typeface="Aptos Display"/>
      </a:majorFont>
      <a:minorFont>
        <a:latin typeface="Aptos"/>
      </a:minorFont>
    </a:fontScheme>
    <a:fmtScheme name="FilmApp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FilmApp - Presentació</dc:title>
  <dc:creator/>
  <cp:lastModifiedBy/>
  <dcterms:created xsi:type="dcterms:W3CDTF">2026-05-23T00:00:00Z</dcterms:created>
  <dcterms:modified xsi:type="dcterms:W3CDTF">2026-05-23T00:00:00Z</dcterms:modified>
</cp:coreProperties>
</file>