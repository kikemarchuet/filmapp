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85800"/>
            <a:ext cx="4846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600" b="1">
                <a:solidFill>
                  <a:srgbClr val="432978"/>
                </a:solidFill>
                <a:latin typeface="Aptos"/>
              </a:rPr>
              <a:t>FilmApp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08760"/>
            <a:ext cx="5303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5D5567"/>
                </a:solidFill>
                <a:latin typeface="Aptos"/>
              </a:rPr>
              <a:t>Aplicación Flutter para gestionar películas, opiniones, usuarios, favoritos e idioma.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40280"/>
            <a:ext cx="5212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673AB7"/>
                </a:solidFill>
                <a:latin typeface="Aptos"/>
              </a:rPr>
              <a:t>Proyecto final · Ciclo Formativo de Grado Superior</a:t>
            </a:r>
          </a:p>
        </p:txBody>
      </p:sp>
      <p:pic>
        <p:nvPicPr>
          <p:cNvPr id="5" name="Picture 4" descr="gladiat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822960"/>
            <a:ext cx="1417320" cy="1894813"/>
          </a:xfrm>
          <a:prstGeom prst="rect">
            <a:avLst/>
          </a:prstGeom>
        </p:spPr>
      </p:pic>
      <p:pic>
        <p:nvPicPr>
          <p:cNvPr id="6" name="Picture 5" descr="incepti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1234440"/>
            <a:ext cx="1417320" cy="2099262"/>
          </a:xfrm>
          <a:prstGeom prst="rect">
            <a:avLst/>
          </a:prstGeom>
        </p:spPr>
      </p:pic>
      <p:pic>
        <p:nvPicPr>
          <p:cNvPr id="7" name="Picture 6" descr="interstella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1645920"/>
            <a:ext cx="1417320" cy="202763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5800" y="3794760"/>
            <a:ext cx="24688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EE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3904488"/>
            <a:ext cx="2139696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432978"/>
                </a:solidFill>
                <a:latin typeface="Aptos"/>
              </a:rPr>
              <a:t>Stack técnico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4288536"/>
            <a:ext cx="213969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D5567"/>
                </a:solidFill>
                <a:latin typeface="Aptos"/>
              </a:rPr>
              <a:t>Flutter · Dart · SQLite · Provider · intl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3794760"/>
            <a:ext cx="24688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EE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3592" y="3904488"/>
            <a:ext cx="2139696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432978"/>
                </a:solidFill>
                <a:latin typeface="Aptos"/>
              </a:rPr>
              <a:t>Objetivo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4288536"/>
            <a:ext cx="213969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D5567"/>
                </a:solidFill>
                <a:latin typeface="Aptos"/>
              </a:rPr>
              <a:t>Una app funcional con arquitectura separada y estado compartido.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794760"/>
            <a:ext cx="24688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EE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6792" y="3904488"/>
            <a:ext cx="2139696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432978"/>
                </a:solidFill>
                <a:latin typeface="Aptos"/>
              </a:rPr>
              <a:t>Estado actual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6792" y="4288536"/>
            <a:ext cx="213969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D5567"/>
                </a:solidFill>
                <a:latin typeface="Aptos"/>
              </a:rPr>
              <a:t>Login, multiusuario, CRUD, favoritos, opiniones y tests.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4652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D5567"/>
                </a:solidFill>
                <a:latin typeface="Aptos"/>
              </a:rPr>
              <a:t>FilmApp · Exposición final ·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432978"/>
                </a:solidFill>
                <a:latin typeface="Aptos"/>
              </a:rPr>
              <a:t>Índice de la exposición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70432"/>
            <a:ext cx="8138160" cy="27432"/>
          </a:xfrm>
          <a:prstGeom prst="rect">
            <a:avLst/>
          </a:prstGeom>
          <a:solidFill>
            <a:srgbClr val="673AB7"/>
          </a:solidFill>
          <a:ln>
            <a:solidFill>
              <a:srgbClr val="673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D5567"/>
                </a:solidFill>
                <a:latin typeface="Aptos"/>
              </a:rPr>
              <a:t>FilmApp · Exposición final ·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7589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100">
                <a:solidFill>
                  <a:srgbClr val="221F26"/>
                </a:solidFill>
                <a:latin typeface="Aptos"/>
              </a:defRPr>
            </a:pPr>
            <a:r>
              <a:t>1. Concepto y objetivo del proyecto</a:t>
            </a:r>
          </a:p>
          <a:p>
            <a:pPr>
              <a:spcAft>
                <a:spcPts val="600"/>
              </a:spcAft>
              <a:defRPr sz="2100">
                <a:solidFill>
                  <a:srgbClr val="221F26"/>
                </a:solidFill>
                <a:latin typeface="Aptos"/>
              </a:defRPr>
            </a:pPr>
            <a:r>
              <a:t>2. Funcionalidades principales</a:t>
            </a:r>
          </a:p>
          <a:p>
            <a:pPr>
              <a:spcAft>
                <a:spcPts val="600"/>
              </a:spcAft>
              <a:defRPr sz="2100">
                <a:solidFill>
                  <a:srgbClr val="221F26"/>
                </a:solidFill>
                <a:latin typeface="Aptos"/>
              </a:defRPr>
            </a:pPr>
            <a:r>
              <a:t>3. Vistas y flujo de navegación</a:t>
            </a:r>
          </a:p>
          <a:p>
            <a:pPr>
              <a:spcAft>
                <a:spcPts val="600"/>
              </a:spcAft>
              <a:defRPr sz="2100">
                <a:solidFill>
                  <a:srgbClr val="221F26"/>
                </a:solidFill>
                <a:latin typeface="Aptos"/>
              </a:defRPr>
            </a:pPr>
            <a:r>
              <a:t>4. Arquitectura por capas con Provider</a:t>
            </a:r>
          </a:p>
          <a:p>
            <a:pPr>
              <a:spcAft>
                <a:spcPts val="600"/>
              </a:spcAft>
              <a:defRPr sz="2100">
                <a:solidFill>
                  <a:srgbClr val="221F26"/>
                </a:solidFill>
                <a:latin typeface="Aptos"/>
              </a:defRPr>
            </a:pPr>
            <a:r>
              <a:t>5. Base de datos y persistencia</a:t>
            </a:r>
          </a:p>
          <a:p>
            <a:pPr>
              <a:spcAft>
                <a:spcPts val="600"/>
              </a:spcAft>
              <a:defRPr sz="2100">
                <a:solidFill>
                  <a:srgbClr val="221F26"/>
                </a:solidFill>
                <a:latin typeface="Aptos"/>
              </a:defRPr>
            </a:pPr>
            <a:r>
              <a:t>6. Multiusuario, idioma y favoritos</a:t>
            </a:r>
          </a:p>
          <a:p>
            <a:pPr>
              <a:spcAft>
                <a:spcPts val="600"/>
              </a:spcAft>
              <a:defRPr sz="2100">
                <a:solidFill>
                  <a:srgbClr val="221F26"/>
                </a:solidFill>
                <a:latin typeface="Aptos"/>
              </a:defRPr>
            </a:pPr>
            <a:r>
              <a:t>7. Validación, tests y demo final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432978"/>
                </a:solidFill>
                <a:latin typeface="Aptos"/>
              </a:rPr>
              <a:t>Concepto del proyecto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5D5567"/>
                </a:solidFill>
                <a:latin typeface="Aptos"/>
              </a:rPr>
              <a:t>FilmApp como aplicación de gestión de películas.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8138160" cy="27432"/>
          </a:xfrm>
          <a:prstGeom prst="rect">
            <a:avLst/>
          </a:prstGeom>
          <a:solidFill>
            <a:srgbClr val="673AB7"/>
          </a:solidFill>
          <a:ln>
            <a:solidFill>
              <a:srgbClr val="673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D5567"/>
                </a:solidFill>
                <a:latin typeface="Aptos"/>
              </a:rPr>
              <a:t>FilmApp · Exposición final ·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25603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EE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618488"/>
            <a:ext cx="2231136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432978"/>
                </a:solidFill>
                <a:latin typeface="Aptos"/>
              </a:rPr>
              <a:t>Necesidad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002536"/>
            <a:ext cx="2231136" cy="914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D5567"/>
                </a:solidFill>
                <a:latin typeface="Aptos"/>
              </a:rPr>
              <a:t>Organizar películas, valoraciones y opiniones desde una app sencilla.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1508760"/>
            <a:ext cx="25603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EE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85032" y="1618488"/>
            <a:ext cx="2231136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432978"/>
                </a:solidFill>
                <a:latin typeface="Aptos"/>
              </a:rPr>
              <a:t>Solución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2" y="2002536"/>
            <a:ext cx="2231136" cy="914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D5567"/>
                </a:solidFill>
                <a:latin typeface="Aptos"/>
              </a:rPr>
              <a:t>Una app Flutter con usuarios, favoritos y persistencia local.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508760"/>
            <a:ext cx="21031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EE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1618488"/>
            <a:ext cx="1773936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432978"/>
                </a:solidFill>
                <a:latin typeface="Aptos"/>
              </a:rPr>
              <a:t>Enfoque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2002536"/>
            <a:ext cx="1773936" cy="914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D5567"/>
                </a:solidFill>
                <a:latin typeface="Aptos"/>
              </a:rPr>
              <a:t>Funcionalidad real, arquitectura clara y pruebas automáticas.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657600"/>
            <a:ext cx="7680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221F26"/>
                </a:solidFill>
                <a:latin typeface="Aptos"/>
              </a:defRPr>
            </a:pPr>
            <a:r>
              <a:t>Pensada como app de catálogo personal.</a:t>
            </a:r>
          </a:p>
          <a:p>
            <a:pPr>
              <a:spcAft>
                <a:spcPts val="600"/>
              </a:spcAft>
              <a:defRPr sz="1900">
                <a:solidFill>
                  <a:srgbClr val="221F26"/>
                </a:solidFill>
                <a:latin typeface="Aptos"/>
              </a:defRPr>
            </a:pPr>
            <a:r>
              <a:t>Cada usuario tiene su sesión y sus preferencias.</a:t>
            </a:r>
          </a:p>
          <a:p>
            <a:pPr>
              <a:spcAft>
                <a:spcPts val="600"/>
              </a:spcAft>
              <a:defRPr sz="1900">
                <a:solidFill>
                  <a:srgbClr val="221F26"/>
                </a:solidFill>
                <a:latin typeface="Aptos"/>
              </a:defRPr>
            </a:pPr>
            <a:r>
              <a:t>El estado se comparte con Provider para evitar recargas manuales.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432978"/>
                </a:solidFill>
                <a:latin typeface="Aptos"/>
              </a:rPr>
              <a:t>Funcionalidades principales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70432"/>
            <a:ext cx="8138160" cy="27432"/>
          </a:xfrm>
          <a:prstGeom prst="rect">
            <a:avLst/>
          </a:prstGeom>
          <a:solidFill>
            <a:srgbClr val="673AB7"/>
          </a:solidFill>
          <a:ln>
            <a:solidFill>
              <a:srgbClr val="673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D5567"/>
                </a:solidFill>
                <a:latin typeface="Aptos"/>
              </a:rPr>
              <a:t>FilmApp · Exposición final ·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24231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EE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527048"/>
            <a:ext cx="2093976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432978"/>
                </a:solidFill>
                <a:latin typeface="Aptos"/>
              </a:rPr>
              <a:t>Login y registro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911095"/>
            <a:ext cx="2093976" cy="731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D5567"/>
                </a:solidFill>
                <a:latin typeface="Aptos"/>
              </a:rPr>
              <a:t>Alta de usuario, contraseña repetida y validación.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417320"/>
            <a:ext cx="24231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EE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9312" y="1527048"/>
            <a:ext cx="2093976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432978"/>
                </a:solidFill>
                <a:latin typeface="Aptos"/>
              </a:rPr>
              <a:t>Películas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9312" y="1911095"/>
            <a:ext cx="2093976" cy="731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D5567"/>
                </a:solidFill>
                <a:latin typeface="Aptos"/>
              </a:rPr>
              <a:t>Listado, alta, detalle y borrado con confirmación.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24231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EE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1" y="1527048"/>
            <a:ext cx="2093976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432978"/>
                </a:solidFill>
                <a:latin typeface="Aptos"/>
              </a:rPr>
              <a:t>Favoritos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1" y="1911095"/>
            <a:ext cx="2093976" cy="731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D5567"/>
                </a:solidFill>
                <a:latin typeface="Aptos"/>
              </a:rPr>
              <a:t>Lista independiente para cada usuario.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91839"/>
            <a:ext cx="24231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EE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3401568"/>
            <a:ext cx="2093976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432978"/>
                </a:solidFill>
                <a:latin typeface="Aptos"/>
              </a:rPr>
              <a:t>Opiniones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3785615"/>
            <a:ext cx="2093976" cy="731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D5567"/>
                </a:solidFill>
                <a:latin typeface="Aptos"/>
              </a:rPr>
              <a:t>Comentarios y valoración por estrellas.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291839"/>
            <a:ext cx="24231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EE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39312" y="3401568"/>
            <a:ext cx="2093976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432978"/>
                </a:solidFill>
                <a:latin typeface="Aptos"/>
              </a:rPr>
              <a:t>Multiidioma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9312" y="3785615"/>
            <a:ext cx="2093976" cy="731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D5567"/>
                </a:solidFill>
                <a:latin typeface="Aptos"/>
              </a:rPr>
              <a:t>Català/Valencià, castellano e inglés.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291839"/>
            <a:ext cx="24231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EE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1" y="3401568"/>
            <a:ext cx="2093976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432978"/>
                </a:solidFill>
                <a:latin typeface="Aptos"/>
              </a:rPr>
              <a:t>Tests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1" y="3785615"/>
            <a:ext cx="2093976" cy="731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D5567"/>
                </a:solidFill>
                <a:latin typeface="Aptos"/>
              </a:rPr>
              <a:t>Widget test con login, navegación, favoritos e idioma.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432978"/>
                </a:solidFill>
                <a:latin typeface="Aptos"/>
              </a:rPr>
              <a:t>Flujo de usuario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70432"/>
            <a:ext cx="8138160" cy="27432"/>
          </a:xfrm>
          <a:prstGeom prst="rect">
            <a:avLst/>
          </a:prstGeom>
          <a:solidFill>
            <a:srgbClr val="673AB7"/>
          </a:solidFill>
          <a:ln>
            <a:solidFill>
              <a:srgbClr val="673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D5567"/>
                </a:solidFill>
                <a:latin typeface="Aptos"/>
              </a:rPr>
              <a:t>FilmApp · Exposición final · 5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1828800"/>
            <a:ext cx="502920" cy="502920"/>
          </a:xfrm>
          <a:prstGeom prst="ellipse">
            <a:avLst/>
          </a:prstGeom>
          <a:solidFill>
            <a:srgbClr val="673AB7"/>
          </a:solidFill>
          <a:ln>
            <a:solidFill>
              <a:srgbClr val="673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93852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514600"/>
            <a:ext cx="1234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221F26"/>
                </a:solidFill>
                <a:latin typeface="Aptos"/>
              </a:rPr>
              <a:t>Login / registro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97280" y="2075688"/>
            <a:ext cx="960120" cy="0"/>
          </a:xfrm>
          <a:prstGeom prst="line">
            <a:avLst/>
          </a:prstGeom>
          <a:ln w="25400">
            <a:solidFill>
              <a:srgbClr val="673A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221991" y="1828800"/>
            <a:ext cx="502920" cy="502920"/>
          </a:xfrm>
          <a:prstGeom prst="ellipse">
            <a:avLst/>
          </a:prstGeom>
          <a:solidFill>
            <a:srgbClr val="673AB7"/>
          </a:solidFill>
          <a:ln>
            <a:solidFill>
              <a:srgbClr val="673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21991" y="193852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93391" y="2514600"/>
            <a:ext cx="1234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221F26"/>
                </a:solidFill>
                <a:latin typeface="Aptos"/>
              </a:rPr>
              <a:t>Listado de películas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16351" y="2075688"/>
            <a:ext cx="960121" cy="0"/>
          </a:xfrm>
          <a:prstGeom prst="line">
            <a:avLst/>
          </a:prstGeom>
          <a:ln w="25400">
            <a:solidFill>
              <a:srgbClr val="673A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941063" y="1828800"/>
            <a:ext cx="502920" cy="502920"/>
          </a:xfrm>
          <a:prstGeom prst="ellipse">
            <a:avLst/>
          </a:prstGeom>
          <a:solidFill>
            <a:srgbClr val="673AB7"/>
          </a:solidFill>
          <a:ln>
            <a:solidFill>
              <a:srgbClr val="673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41063" y="193852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12463" y="2514600"/>
            <a:ext cx="1234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221F26"/>
                </a:solidFill>
                <a:latin typeface="Aptos"/>
              </a:rPr>
              <a:t>Detalle: favorito, opiniones o borrar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35424" y="2075688"/>
            <a:ext cx="960120" cy="0"/>
          </a:xfrm>
          <a:prstGeom prst="line">
            <a:avLst/>
          </a:prstGeom>
          <a:ln w="25400">
            <a:solidFill>
              <a:srgbClr val="673A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5660136" y="1828800"/>
            <a:ext cx="502920" cy="502920"/>
          </a:xfrm>
          <a:prstGeom prst="ellipse">
            <a:avLst/>
          </a:prstGeom>
          <a:solidFill>
            <a:srgbClr val="673AB7"/>
          </a:solidFill>
          <a:ln>
            <a:solidFill>
              <a:srgbClr val="673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0136" y="193852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31536" y="2514600"/>
            <a:ext cx="1234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221F26"/>
                </a:solidFill>
                <a:latin typeface="Aptos"/>
              </a:rPr>
              <a:t>Preferidas por usuario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254496" y="2075688"/>
            <a:ext cx="960120" cy="0"/>
          </a:xfrm>
          <a:prstGeom prst="line">
            <a:avLst/>
          </a:prstGeom>
          <a:ln w="25400">
            <a:solidFill>
              <a:srgbClr val="673A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379208" y="1828800"/>
            <a:ext cx="502920" cy="502920"/>
          </a:xfrm>
          <a:prstGeom prst="ellipse">
            <a:avLst/>
          </a:prstGeom>
          <a:solidFill>
            <a:srgbClr val="673AB7"/>
          </a:solidFill>
          <a:ln>
            <a:solidFill>
              <a:srgbClr val="673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79208" y="193852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0608" y="2514600"/>
            <a:ext cx="1234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221F26"/>
                </a:solidFill>
                <a:latin typeface="Aptos"/>
              </a:rPr>
              <a:t>Configuración: idioma y cierre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069080"/>
            <a:ext cx="7589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1F26"/>
                </a:solidFill>
                <a:latin typeface="Aptos"/>
              </a:defRPr>
            </a:pPr>
            <a:r>
              <a:t>La navegación inferior mantiene accesibles las secciones principales.</a:t>
            </a:r>
          </a:p>
          <a:p>
            <a:pPr>
              <a:spcAft>
                <a:spcPts val="600"/>
              </a:spcAft>
              <a:defRPr sz="1800">
                <a:solidFill>
                  <a:srgbClr val="221F26"/>
                </a:solidFill>
                <a:latin typeface="Aptos"/>
              </a:defRPr>
            </a:pPr>
            <a:r>
              <a:t>El usuario activo se muestra arriba en las pantallas internas.</a:t>
            </a:r>
          </a:p>
          <a:p>
            <a:pPr>
              <a:spcAft>
                <a:spcPts val="600"/>
              </a:spcAft>
              <a:defRPr sz="1800">
                <a:solidFill>
                  <a:srgbClr val="221F26"/>
                </a:solidFill>
                <a:latin typeface="Aptos"/>
              </a:defRPr>
            </a:pPr>
            <a:r>
              <a:t>Los cambios en estado se reflejan automáticamente en las vistas.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432978"/>
                </a:solidFill>
                <a:latin typeface="Aptos"/>
              </a:rPr>
              <a:t>Vistas principales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70432"/>
            <a:ext cx="8138160" cy="27432"/>
          </a:xfrm>
          <a:prstGeom prst="rect">
            <a:avLst/>
          </a:prstGeom>
          <a:solidFill>
            <a:srgbClr val="673AB7"/>
          </a:solidFill>
          <a:ln>
            <a:solidFill>
              <a:srgbClr val="673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D5567"/>
                </a:solidFill>
                <a:latin typeface="Aptos"/>
              </a:rPr>
              <a:t>FilmApp · Exposición final ·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361188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EE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435607"/>
            <a:ext cx="3282696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432978"/>
                </a:solidFill>
                <a:latin typeface="Aptos"/>
              </a:rPr>
              <a:t>Login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819656"/>
            <a:ext cx="3282696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D5567"/>
                </a:solidFill>
                <a:latin typeface="Aptos"/>
              </a:rPr>
              <a:t>Entrar o crear usuario con confirmación de contraseña.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1325880"/>
            <a:ext cx="361188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EE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10912" y="1435607"/>
            <a:ext cx="3282696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432978"/>
                </a:solidFill>
                <a:latin typeface="Aptos"/>
              </a:rPr>
              <a:t>Películas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10912" y="1819656"/>
            <a:ext cx="3282696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D5567"/>
                </a:solidFill>
                <a:latin typeface="Aptos"/>
              </a:rPr>
              <a:t>Listado con carátula, género, año, media y favorito.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743200"/>
            <a:ext cx="361188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EE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852928"/>
            <a:ext cx="3282696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432978"/>
                </a:solidFill>
                <a:latin typeface="Aptos"/>
              </a:rPr>
              <a:t>Detalle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3236976"/>
            <a:ext cx="3282696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D5567"/>
                </a:solidFill>
                <a:latin typeface="Aptos"/>
              </a:rPr>
              <a:t>Sinopsis, opiniones, estrella de favorito y borrado.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0" y="2743200"/>
            <a:ext cx="361188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EE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10912" y="2852928"/>
            <a:ext cx="3282696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432978"/>
                </a:solidFill>
                <a:latin typeface="Aptos"/>
              </a:rPr>
              <a:t>Añadir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10912" y="3236976"/>
            <a:ext cx="3282696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D5567"/>
                </a:solidFill>
                <a:latin typeface="Aptos"/>
              </a:rPr>
              <a:t>Formulario para registrar nuevas películas.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160520"/>
            <a:ext cx="361188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EE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4270248"/>
            <a:ext cx="3282696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432978"/>
                </a:solidFill>
                <a:latin typeface="Aptos"/>
              </a:rPr>
              <a:t>Preferidas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4654296"/>
            <a:ext cx="3282696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D5567"/>
                </a:solidFill>
                <a:latin typeface="Aptos"/>
              </a:rPr>
              <a:t>Solo películas favoritas del usuario activo.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46320" y="4160520"/>
            <a:ext cx="361188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EE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10912" y="4270248"/>
            <a:ext cx="3282696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432978"/>
                </a:solidFill>
                <a:latin typeface="Aptos"/>
              </a:rPr>
              <a:t>Configuración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10912" y="4654296"/>
            <a:ext cx="3282696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D5567"/>
                </a:solidFill>
                <a:latin typeface="Aptos"/>
              </a:rPr>
              <a:t>Idioma propio del usuario y cierre de sesión.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432978"/>
                </a:solidFill>
                <a:latin typeface="Aptos"/>
              </a:rPr>
              <a:t>Arquitectura por capas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5D5567"/>
                </a:solidFill>
                <a:latin typeface="Aptos"/>
              </a:rPr>
              <a:t>Separación entre interfaz, estado, repositorios y SQLite.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8138160" cy="27432"/>
          </a:xfrm>
          <a:prstGeom prst="rect">
            <a:avLst/>
          </a:prstGeom>
          <a:solidFill>
            <a:srgbClr val="673AB7"/>
          </a:solidFill>
          <a:ln>
            <a:solidFill>
              <a:srgbClr val="673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D5567"/>
                </a:solidFill>
                <a:latin typeface="Aptos"/>
              </a:rPr>
              <a:t>FilmApp · Exposición final · 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737360" cy="685800"/>
          </a:xfrm>
          <a:prstGeom prst="roundRect">
            <a:avLst/>
          </a:prstGeom>
          <a:solidFill>
            <a:srgbClr val="EEE8F7"/>
          </a:solidFill>
          <a:ln>
            <a:solidFill>
              <a:srgbClr val="673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993392"/>
            <a:ext cx="159105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221F26"/>
                </a:solidFill>
                <a:latin typeface="Aptos"/>
              </a:rPr>
              <a:t>Pantallas</a:t>
            </a:r>
            <a:br/>
            <a:r>
              <a:t>Widgets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828800"/>
            <a:ext cx="1737360" cy="685800"/>
          </a:xfrm>
          <a:prstGeom prst="roundRect">
            <a:avLst/>
          </a:prstGeom>
          <a:solidFill>
            <a:srgbClr val="E2F5F1"/>
          </a:solidFill>
          <a:ln>
            <a:solidFill>
              <a:srgbClr val="673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16352" y="1993392"/>
            <a:ext cx="159105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221F26"/>
                </a:solidFill>
                <a:latin typeface="Aptos"/>
              </a:rPr>
              <a:t>Provider</a:t>
            </a:r>
            <a:br/>
            <a:r>
              <a:t>AppState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1828800"/>
            <a:ext cx="1737360" cy="685800"/>
          </a:xfrm>
          <a:prstGeom prst="roundRect">
            <a:avLst/>
          </a:prstGeom>
          <a:solidFill>
            <a:srgbClr val="FFF8E1"/>
          </a:solidFill>
          <a:ln>
            <a:solidFill>
              <a:srgbClr val="673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28032" y="1993392"/>
            <a:ext cx="159105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221F26"/>
                </a:solidFill>
                <a:latin typeface="Aptos"/>
              </a:rPr>
              <a:t>Repositorios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1828800"/>
            <a:ext cx="1645920" cy="685800"/>
          </a:xfrm>
          <a:prstGeom prst="roundRect">
            <a:avLst/>
          </a:prstGeom>
          <a:solidFill>
            <a:srgbClr val="F5E7E5"/>
          </a:solidFill>
          <a:ln>
            <a:solidFill>
              <a:srgbClr val="673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39712" y="1993392"/>
            <a:ext cx="149961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221F26"/>
                </a:solidFill>
                <a:latin typeface="Aptos"/>
              </a:rPr>
              <a:t>SQLite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487168" y="2167128"/>
            <a:ext cx="237744" cy="0"/>
          </a:xfrm>
          <a:prstGeom prst="line">
            <a:avLst/>
          </a:prstGeom>
          <a:ln w="25400">
            <a:solidFill>
              <a:srgbClr val="673A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498848" y="2167128"/>
            <a:ext cx="237744" cy="0"/>
          </a:xfrm>
          <a:prstGeom prst="line">
            <a:avLst/>
          </a:prstGeom>
          <a:ln w="25400">
            <a:solidFill>
              <a:srgbClr val="673A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510528" y="2167128"/>
            <a:ext cx="237744" cy="0"/>
          </a:xfrm>
          <a:prstGeom prst="line">
            <a:avLst/>
          </a:prstGeom>
          <a:ln w="25400">
            <a:solidFill>
              <a:srgbClr val="673A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68680" y="3657600"/>
            <a:ext cx="7772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1F26"/>
                </a:solidFill>
                <a:latin typeface="Aptos"/>
              </a:defRPr>
            </a:pPr>
            <a:r>
              <a:t>Las pantallas no atacan directamente a SQLite.</a:t>
            </a:r>
          </a:p>
          <a:p>
            <a:pPr>
              <a:spcAft>
                <a:spcPts val="600"/>
              </a:spcAft>
              <a:defRPr sz="1800">
                <a:solidFill>
                  <a:srgbClr val="221F26"/>
                </a:solidFill>
                <a:latin typeface="Aptos"/>
              </a:defRPr>
            </a:pPr>
            <a:r>
              <a:t>AppState concentra el estado compartido y notifica cambios.</a:t>
            </a:r>
          </a:p>
          <a:p>
            <a:pPr>
              <a:spcAft>
                <a:spcPts val="600"/>
              </a:spcAft>
              <a:defRPr sz="1800">
                <a:solidFill>
                  <a:srgbClr val="221F26"/>
                </a:solidFill>
                <a:latin typeface="Aptos"/>
              </a:defRPr>
            </a:pPr>
            <a:r>
              <a:t>Los repositorios aíslan las operaciones de datos.</a:t>
            </a:r>
          </a:p>
          <a:p>
            <a:pPr>
              <a:spcAft>
                <a:spcPts val="600"/>
              </a:spcAft>
              <a:defRPr sz="1800">
                <a:solidFill>
                  <a:srgbClr val="221F26"/>
                </a:solidFill>
                <a:latin typeface="Aptos"/>
              </a:defRPr>
            </a:pPr>
            <a:r>
              <a:t>La base de datos queda como última capa de persistencia.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432978"/>
                </a:solidFill>
                <a:latin typeface="Aptos"/>
              </a:rPr>
              <a:t>Provider y AppState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70432"/>
            <a:ext cx="8138160" cy="27432"/>
          </a:xfrm>
          <a:prstGeom prst="rect">
            <a:avLst/>
          </a:prstGeom>
          <a:solidFill>
            <a:srgbClr val="673AB7"/>
          </a:solidFill>
          <a:ln>
            <a:solidFill>
              <a:srgbClr val="673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D5567"/>
                </a:solidFill>
                <a:latin typeface="Aptos"/>
              </a:rPr>
              <a:t>FilmApp · Exposición final ·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657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EE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527048"/>
            <a:ext cx="3328416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432978"/>
                </a:solidFill>
                <a:latin typeface="Aptos"/>
              </a:rPr>
              <a:t>Qué guarda AppState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911095"/>
            <a:ext cx="332841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D5567"/>
                </a:solidFill>
                <a:latin typeface="Aptos"/>
              </a:rPr>
              <a:t>Usuario activo, idioma, películas, favoritas, medias y estados de carga.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9160" y="1417320"/>
            <a:ext cx="3749039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EE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73752" y="1527048"/>
            <a:ext cx="3419856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432978"/>
                </a:solidFill>
                <a:latin typeface="Aptos"/>
              </a:rPr>
              <a:t>Qué resuelve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73752" y="1911095"/>
            <a:ext cx="341985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D5567"/>
                </a:solidFill>
                <a:latin typeface="Aptos"/>
              </a:rPr>
              <a:t>Las pantallas se refrescan al cambiar favoritos, idioma o sesión.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749807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1F26"/>
                </a:solidFill>
                <a:latin typeface="Aptos"/>
              </a:defRPr>
            </a:pPr>
            <a:r>
              <a:t>login() y register(): autentican y cargan datos.</a:t>
            </a:r>
          </a:p>
          <a:p>
            <a:pPr>
              <a:spcAft>
                <a:spcPts val="600"/>
              </a:spcAft>
              <a:defRPr sz="1800">
                <a:solidFill>
                  <a:srgbClr val="221F26"/>
                </a:solidFill>
                <a:latin typeface="Aptos"/>
              </a:defRPr>
            </a:pPr>
            <a:r>
              <a:t>loadMovies(): carga listado general y favoritas del usuario.</a:t>
            </a:r>
          </a:p>
          <a:p>
            <a:pPr>
              <a:spcAft>
                <a:spcPts val="600"/>
              </a:spcAft>
              <a:defRPr sz="1800">
                <a:solidFill>
                  <a:srgbClr val="221F26"/>
                </a:solidFill>
                <a:latin typeface="Aptos"/>
              </a:defRPr>
            </a:pPr>
            <a:r>
              <a:t>toggleFavorite(): cambia favorita y actualiza vistas.</a:t>
            </a:r>
          </a:p>
          <a:p>
            <a:pPr>
              <a:spcAft>
                <a:spcPts val="600"/>
              </a:spcAft>
              <a:defRPr sz="1800">
                <a:solidFill>
                  <a:srgbClr val="221F26"/>
                </a:solidFill>
                <a:latin typeface="Aptos"/>
              </a:defRPr>
            </a:pPr>
            <a:r>
              <a:t>deleteMovie(): borra película y refresca estado.</a:t>
            </a:r>
          </a:p>
          <a:p>
            <a:pPr>
              <a:spcAft>
                <a:spcPts val="600"/>
              </a:spcAft>
              <a:defRPr sz="1800">
                <a:solidFill>
                  <a:srgbClr val="221F26"/>
                </a:solidFill>
                <a:latin typeface="Aptos"/>
              </a:defRPr>
            </a:pPr>
            <a:r>
              <a:t>changeLocale(): guarda idioma por usuario.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432978"/>
                </a:solidFill>
                <a:latin typeface="Aptos"/>
              </a:rPr>
              <a:t>Persistencia con SQLite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70432"/>
            <a:ext cx="8138160" cy="27432"/>
          </a:xfrm>
          <a:prstGeom prst="rect">
            <a:avLst/>
          </a:prstGeom>
          <a:solidFill>
            <a:srgbClr val="673AB7"/>
          </a:solidFill>
          <a:ln>
            <a:solidFill>
              <a:srgbClr val="673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D5567"/>
                </a:solidFill>
                <a:latin typeface="Aptos"/>
              </a:rPr>
              <a:t>FilmApp · Exposición final ·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3931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1F26"/>
                </a:solidFill>
                <a:latin typeface="Aptos"/>
              </a:defRPr>
            </a:pPr>
            <a:r>
              <a:t>peliculas: datos generales de cada película.</a:t>
            </a:r>
          </a:p>
          <a:p>
            <a:pPr>
              <a:spcAft>
                <a:spcPts val="600"/>
              </a:spcAft>
              <a:defRPr sz="1800">
                <a:solidFill>
                  <a:srgbClr val="221F26"/>
                </a:solidFill>
                <a:latin typeface="Aptos"/>
              </a:defRPr>
            </a:pPr>
            <a:r>
              <a:t>opiniones: comentarios y valoración asociados a película.</a:t>
            </a:r>
          </a:p>
          <a:p>
            <a:pPr>
              <a:spcAft>
                <a:spcPts val="600"/>
              </a:spcAft>
              <a:defRPr sz="1800">
                <a:solidFill>
                  <a:srgbClr val="221F26"/>
                </a:solidFill>
                <a:latin typeface="Aptos"/>
              </a:defRPr>
            </a:pPr>
            <a:r>
              <a:t>usuarios: nombre, hash de contraseña e idioma.</a:t>
            </a:r>
          </a:p>
          <a:p>
            <a:pPr>
              <a:spcAft>
                <a:spcPts val="600"/>
              </a:spcAft>
              <a:defRPr sz="1800">
                <a:solidFill>
                  <a:srgbClr val="221F26"/>
                </a:solidFill>
                <a:latin typeface="Aptos"/>
              </a:defRPr>
            </a:pPr>
            <a:r>
              <a:t>peliculas_favoritas: relación usuario-película.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74920" y="1417320"/>
            <a:ext cx="3383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EE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39512" y="1527048"/>
            <a:ext cx="3054096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432978"/>
                </a:solidFill>
                <a:latin typeface="Aptos"/>
              </a:rPr>
              <a:t>Punto importante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39512" y="1911095"/>
            <a:ext cx="305409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D5567"/>
                </a:solidFill>
                <a:latin typeface="Aptos"/>
              </a:rPr>
              <a:t>Las favoritas no son globales: dependen del usuario activo.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74920" y="2971800"/>
            <a:ext cx="3383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EE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39512" y="3081528"/>
            <a:ext cx="3054096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432978"/>
                </a:solidFill>
                <a:latin typeface="Aptos"/>
              </a:rPr>
              <a:t>Migraciones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39512" y="3465576"/>
            <a:ext cx="305409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D5567"/>
                </a:solidFill>
                <a:latin typeface="Aptos"/>
              </a:rPr>
              <a:t>La base se versiona para añadir campos y tablas sin perder datos.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432978"/>
                </a:solidFill>
                <a:latin typeface="Aptos"/>
              </a:rPr>
              <a:t>Multiusuario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70432"/>
            <a:ext cx="8138160" cy="27432"/>
          </a:xfrm>
          <a:prstGeom prst="rect">
            <a:avLst/>
          </a:prstGeom>
          <a:solidFill>
            <a:srgbClr val="673AB7"/>
          </a:solidFill>
          <a:ln>
            <a:solidFill>
              <a:srgbClr val="673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D5567"/>
                </a:solidFill>
                <a:latin typeface="Aptos"/>
              </a:rPr>
              <a:t>FilmApp · Exposición final ·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1F26"/>
                </a:solidFill>
                <a:latin typeface="Aptos"/>
              </a:defRPr>
            </a:pPr>
            <a:r>
              <a:t>El registro comprueba usuarios duplicados.</a:t>
            </a:r>
          </a:p>
          <a:p>
            <a:pPr>
              <a:spcAft>
                <a:spcPts val="600"/>
              </a:spcAft>
              <a:defRPr sz="1800">
                <a:solidFill>
                  <a:srgbClr val="221F26"/>
                </a:solidFill>
                <a:latin typeface="Aptos"/>
              </a:defRPr>
            </a:pPr>
            <a:r>
              <a:t>La contraseña se guarda como hash SHA-256.</a:t>
            </a:r>
          </a:p>
          <a:p>
            <a:pPr>
              <a:spcAft>
                <a:spcPts val="600"/>
              </a:spcAft>
              <a:defRPr sz="1800">
                <a:solidFill>
                  <a:srgbClr val="221F26"/>
                </a:solidFill>
                <a:latin typeface="Aptos"/>
              </a:defRPr>
            </a:pPr>
            <a:r>
              <a:t>Cada usuario tiene su idioma propio.</a:t>
            </a:r>
          </a:p>
          <a:p>
            <a:pPr>
              <a:spcAft>
                <a:spcPts val="600"/>
              </a:spcAft>
              <a:defRPr sz="1800">
                <a:solidFill>
                  <a:srgbClr val="221F26"/>
                </a:solidFill>
                <a:latin typeface="Aptos"/>
              </a:defRPr>
            </a:pPr>
            <a:r>
              <a:t>Cada usuario tiene su lista de favoritas.</a:t>
            </a:r>
          </a:p>
          <a:p>
            <a:pPr>
              <a:spcAft>
                <a:spcPts val="600"/>
              </a:spcAft>
              <a:defRPr sz="1800">
                <a:solidFill>
                  <a:srgbClr val="221F26"/>
                </a:solidFill>
                <a:latin typeface="Aptos"/>
              </a:defRPr>
            </a:pPr>
            <a:r>
              <a:t>Al cerrar sesión se limpia el estado cargado.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508760"/>
            <a:ext cx="2377440" cy="594360"/>
          </a:xfrm>
          <a:prstGeom prst="roundRect">
            <a:avLst/>
          </a:prstGeom>
          <a:solidFill>
            <a:srgbClr val="E2F5F1"/>
          </a:solidFill>
          <a:ln>
            <a:solidFill>
              <a:srgbClr val="673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59552" y="1673351"/>
            <a:ext cx="22311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221F26"/>
                </a:solidFill>
                <a:latin typeface="Aptos"/>
              </a:rPr>
              <a:t>Usuario 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2331720"/>
            <a:ext cx="2377440" cy="594360"/>
          </a:xfrm>
          <a:prstGeom prst="roundRect">
            <a:avLst/>
          </a:prstGeom>
          <a:solidFill>
            <a:srgbClr val="EEE8F7"/>
          </a:solidFill>
          <a:ln>
            <a:solidFill>
              <a:srgbClr val="673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59552" y="2496312"/>
            <a:ext cx="22311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221F26"/>
                </a:solidFill>
                <a:latin typeface="Aptos"/>
              </a:rPr>
              <a:t>Favoritas 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3337560"/>
            <a:ext cx="2377440" cy="594360"/>
          </a:xfrm>
          <a:prstGeom prst="roundRect">
            <a:avLst/>
          </a:prstGeom>
          <a:solidFill>
            <a:srgbClr val="FFF8E1"/>
          </a:solidFill>
          <a:ln>
            <a:solidFill>
              <a:srgbClr val="673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9552" y="3502152"/>
            <a:ext cx="22311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221F26"/>
                </a:solidFill>
                <a:latin typeface="Aptos"/>
              </a:rPr>
              <a:t>Usuario 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4160520"/>
            <a:ext cx="2377440" cy="594360"/>
          </a:xfrm>
          <a:prstGeom prst="roundRect">
            <a:avLst/>
          </a:prstGeom>
          <a:solidFill>
            <a:srgbClr val="F5E7E5"/>
          </a:solidFill>
          <a:ln>
            <a:solidFill>
              <a:srgbClr val="673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59552" y="4325112"/>
            <a:ext cx="22311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221F26"/>
                </a:solidFill>
                <a:latin typeface="Aptos"/>
              </a:rPr>
              <a:t>Favoritas B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675120" y="2103120"/>
            <a:ext cx="0" cy="228600"/>
          </a:xfrm>
          <a:prstGeom prst="line">
            <a:avLst/>
          </a:prstGeom>
          <a:ln w="25400">
            <a:solidFill>
              <a:srgbClr val="673A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675120" y="3931920"/>
            <a:ext cx="0" cy="228600"/>
          </a:xfrm>
          <a:prstGeom prst="line">
            <a:avLst/>
          </a:prstGeom>
          <a:ln w="25400">
            <a:solidFill>
              <a:srgbClr val="673A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432978"/>
                </a:solidFill>
                <a:latin typeface="Aptos"/>
              </a:rPr>
              <a:t>Internacionalización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70432"/>
            <a:ext cx="8138160" cy="27432"/>
          </a:xfrm>
          <a:prstGeom prst="rect">
            <a:avLst/>
          </a:prstGeom>
          <a:solidFill>
            <a:srgbClr val="673AB7"/>
          </a:solidFill>
          <a:ln>
            <a:solidFill>
              <a:srgbClr val="673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D5567"/>
                </a:solidFill>
                <a:latin typeface="Aptos"/>
              </a:rPr>
              <a:t>FilmApp · Exposición final ·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7680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1F26"/>
                </a:solidFill>
                <a:latin typeface="Aptos"/>
              </a:defRPr>
            </a:pPr>
            <a:r>
              <a:t>Se usa flutter_localizations e intl.</a:t>
            </a:r>
          </a:p>
          <a:p>
            <a:pPr>
              <a:spcAft>
                <a:spcPts val="600"/>
              </a:spcAft>
              <a:defRPr sz="1800">
                <a:solidFill>
                  <a:srgbClr val="221F26"/>
                </a:solidFill>
                <a:latin typeface="Aptos"/>
              </a:defRPr>
            </a:pPr>
            <a:r>
              <a:t>Idiomas soportados: ca, es y en.</a:t>
            </a:r>
          </a:p>
          <a:p>
            <a:pPr>
              <a:spcAft>
                <a:spcPts val="600"/>
              </a:spcAft>
              <a:defRPr sz="1800">
                <a:solidFill>
                  <a:srgbClr val="221F26"/>
                </a:solidFill>
                <a:latin typeface="Aptos"/>
              </a:defRPr>
            </a:pPr>
            <a:r>
              <a:t>El usuario puede cambiar idioma en Configuración.</a:t>
            </a:r>
          </a:p>
          <a:p>
            <a:pPr>
              <a:spcAft>
                <a:spcPts val="600"/>
              </a:spcAft>
              <a:defRPr sz="1800">
                <a:solidFill>
                  <a:srgbClr val="221F26"/>
                </a:solidFill>
                <a:latin typeface="Aptos"/>
              </a:defRPr>
            </a:pPr>
            <a:r>
              <a:t>El idioma elegido se guarda en SQLite por usuario.</a:t>
            </a:r>
          </a:p>
          <a:p>
            <a:pPr>
              <a:spcAft>
                <a:spcPts val="600"/>
              </a:spcAft>
              <a:defRPr sz="1800">
                <a:solidFill>
                  <a:srgbClr val="221F26"/>
                </a:solidFill>
                <a:latin typeface="Aptos"/>
              </a:defRPr>
            </a:pPr>
            <a:r>
              <a:t>Al iniciar sesión se recupera automáticamente.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206240"/>
            <a:ext cx="21945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EE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4315968"/>
            <a:ext cx="1865376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432978"/>
                </a:solidFill>
                <a:latin typeface="Aptos"/>
              </a:rPr>
              <a:t>Valencià / Català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4700016"/>
            <a:ext cx="186537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D5567"/>
                </a:solidFill>
                <a:latin typeface="Aptos"/>
              </a:rPr>
              <a:t>Llistat de pel·lícules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4206240"/>
            <a:ext cx="21945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EE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9312" y="4315968"/>
            <a:ext cx="1865376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432978"/>
                </a:solidFill>
                <a:latin typeface="Aptos"/>
              </a:rPr>
              <a:t>Castellano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9312" y="4700016"/>
            <a:ext cx="186537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D5567"/>
                </a:solidFill>
                <a:latin typeface="Aptos"/>
              </a:rPr>
              <a:t>Listado de películas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4206240"/>
            <a:ext cx="21945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EE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9631" y="4315968"/>
            <a:ext cx="1865376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432978"/>
                </a:solidFill>
                <a:latin typeface="Aptos"/>
              </a:rPr>
              <a:t>English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9631" y="4700016"/>
            <a:ext cx="186537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D5567"/>
                </a:solidFill>
                <a:latin typeface="Aptos"/>
              </a:rPr>
              <a:t>Movie list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432978"/>
                </a:solidFill>
                <a:latin typeface="Aptos"/>
              </a:rPr>
              <a:t>Operaciones CRUD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70432"/>
            <a:ext cx="8138160" cy="27432"/>
          </a:xfrm>
          <a:prstGeom prst="rect">
            <a:avLst/>
          </a:prstGeom>
          <a:solidFill>
            <a:srgbClr val="673AB7"/>
          </a:solidFill>
          <a:ln>
            <a:solidFill>
              <a:srgbClr val="673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D5567"/>
                </a:solidFill>
                <a:latin typeface="Aptos"/>
              </a:rPr>
              <a:t>FilmApp · Exposición final ·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16002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EE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527048"/>
            <a:ext cx="1271016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432978"/>
                </a:solidFill>
                <a:latin typeface="Aptos"/>
              </a:rPr>
              <a:t>Crear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1911095"/>
            <a:ext cx="127101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D5567"/>
                </a:solidFill>
                <a:latin typeface="Aptos"/>
              </a:rPr>
              <a:t>Alta de película y opinión.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417320"/>
            <a:ext cx="16002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EE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07792" y="1527048"/>
            <a:ext cx="1271016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432978"/>
                </a:solidFill>
                <a:latin typeface="Aptos"/>
              </a:rPr>
              <a:t>Leer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07792" y="1911095"/>
            <a:ext cx="127101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D5567"/>
                </a:solidFill>
                <a:latin typeface="Aptos"/>
              </a:rPr>
              <a:t>Listados y detalle.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60" y="1417320"/>
            <a:ext cx="16002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EE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73752" y="1527048"/>
            <a:ext cx="1271016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432978"/>
                </a:solidFill>
                <a:latin typeface="Aptos"/>
              </a:rPr>
              <a:t>Actualizar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3752" y="1911095"/>
            <a:ext cx="127101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D5567"/>
                </a:solidFill>
                <a:latin typeface="Aptos"/>
              </a:rPr>
              <a:t>Favoritos e idioma.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1417320"/>
            <a:ext cx="16002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EE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39712" y="1527048"/>
            <a:ext cx="1271016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432978"/>
                </a:solidFill>
                <a:latin typeface="Aptos"/>
              </a:rPr>
              <a:t>Borrar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9712" y="1911095"/>
            <a:ext cx="127101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D5567"/>
                </a:solidFill>
                <a:latin typeface="Aptos"/>
              </a:rPr>
              <a:t>Elimina película y datos relacionados.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657600"/>
            <a:ext cx="749807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221F26"/>
                </a:solidFill>
                <a:latin typeface="Aptos"/>
              </a:defRPr>
            </a:pPr>
            <a:r>
              <a:t>El borrado pide confirmación.</a:t>
            </a:r>
          </a:p>
          <a:p>
            <a:pPr>
              <a:spcAft>
                <a:spcPts val="600"/>
              </a:spcAft>
              <a:defRPr sz="1900">
                <a:solidFill>
                  <a:srgbClr val="221F26"/>
                </a:solidFill>
                <a:latin typeface="Aptos"/>
              </a:defRPr>
            </a:pPr>
            <a:r>
              <a:t>Al borrar se limpian opiniones y favoritas relacionadas.</a:t>
            </a:r>
          </a:p>
          <a:p>
            <a:pPr>
              <a:spcAft>
                <a:spcPts val="600"/>
              </a:spcAft>
              <a:defRPr sz="1900">
                <a:solidFill>
                  <a:srgbClr val="221F26"/>
                </a:solidFill>
                <a:latin typeface="Aptos"/>
              </a:defRPr>
            </a:pPr>
            <a:r>
              <a:t>Provider refresca el listado después de cada operación.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432978"/>
                </a:solidFill>
                <a:latin typeface="Aptos"/>
              </a:rPr>
              <a:t>Validación y pruebas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70432"/>
            <a:ext cx="8138160" cy="27432"/>
          </a:xfrm>
          <a:prstGeom prst="rect">
            <a:avLst/>
          </a:prstGeom>
          <a:solidFill>
            <a:srgbClr val="673AB7"/>
          </a:solidFill>
          <a:ln>
            <a:solidFill>
              <a:srgbClr val="673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D5567"/>
                </a:solidFill>
                <a:latin typeface="Aptos"/>
              </a:rPr>
              <a:t>FilmApp · Exposición final ·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7772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1F26"/>
                </a:solidFill>
                <a:latin typeface="Aptos"/>
              </a:defRPr>
            </a:pPr>
            <a:r>
              <a:t>flutter analyze: comprueba errores y buenas prácticas.</a:t>
            </a:r>
          </a:p>
          <a:p>
            <a:pPr>
              <a:spcAft>
                <a:spcPts val="600"/>
              </a:spcAft>
              <a:defRPr sz="1800">
                <a:solidFill>
                  <a:srgbClr val="221F26"/>
                </a:solidFill>
                <a:latin typeface="Aptos"/>
              </a:defRPr>
            </a:pPr>
            <a:r>
              <a:t>flutter test: valida el flujo principal de la app.</a:t>
            </a:r>
          </a:p>
          <a:p>
            <a:pPr>
              <a:spcAft>
                <a:spcPts val="600"/>
              </a:spcAft>
              <a:defRPr sz="1800">
                <a:solidFill>
                  <a:srgbClr val="221F26"/>
                </a:solidFill>
                <a:latin typeface="Aptos"/>
              </a:defRPr>
            </a:pPr>
            <a:r>
              <a:t>El test cubre registro, login, navegación, favoritas, idioma y borrado.</a:t>
            </a:r>
          </a:p>
          <a:p>
            <a:pPr>
              <a:spcAft>
                <a:spcPts val="600"/>
              </a:spcAft>
              <a:defRPr sz="1800">
                <a:solidFill>
                  <a:srgbClr val="221F26"/>
                </a:solidFill>
                <a:latin typeface="Aptos"/>
              </a:defRPr>
            </a:pPr>
            <a:r>
              <a:t>SQLite en tests usa sqflite_common_ffi con base temporal.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4023360"/>
            <a:ext cx="32918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EE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" y="4133088"/>
            <a:ext cx="2962656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432978"/>
                </a:solidFill>
                <a:latin typeface="Aptos"/>
              </a:rPr>
              <a:t>Resultado actual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" y="4517136"/>
            <a:ext cx="29626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D5567"/>
                </a:solidFill>
                <a:latin typeface="Aptos"/>
              </a:rPr>
              <a:t>All tests passed · No issues found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4023360"/>
            <a:ext cx="32918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EE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4133088"/>
            <a:ext cx="2962656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432978"/>
                </a:solidFill>
                <a:latin typeface="Aptos"/>
              </a:rPr>
              <a:t>Valor añadido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10912" y="4517136"/>
            <a:ext cx="29626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D5567"/>
                </a:solidFill>
                <a:latin typeface="Aptos"/>
              </a:rPr>
              <a:t>Mayor confianza al cambiar arquitectura y funcionalidades.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432978"/>
                </a:solidFill>
                <a:latin typeface="Aptos"/>
              </a:rPr>
              <a:t>Guion de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70432"/>
            <a:ext cx="8138160" cy="27432"/>
          </a:xfrm>
          <a:prstGeom prst="rect">
            <a:avLst/>
          </a:prstGeom>
          <a:solidFill>
            <a:srgbClr val="673AB7"/>
          </a:solidFill>
          <a:ln>
            <a:solidFill>
              <a:srgbClr val="673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D5567"/>
                </a:solidFill>
                <a:latin typeface="Aptos"/>
              </a:rPr>
              <a:t>FilmApp · Exposición final ·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7680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221F26"/>
                </a:solidFill>
                <a:latin typeface="Aptos"/>
              </a:defRPr>
            </a:pPr>
            <a:r>
              <a:t>1. Crear usuario nuevo y entrar.</a:t>
            </a:r>
          </a:p>
          <a:p>
            <a:pPr>
              <a:spcAft>
                <a:spcPts val="600"/>
              </a:spcAft>
              <a:defRPr sz="1900">
                <a:solidFill>
                  <a:srgbClr val="221F26"/>
                </a:solidFill>
                <a:latin typeface="Aptos"/>
              </a:defRPr>
            </a:pPr>
            <a:r>
              <a:t>2. Ver listado de películas y abrir un detalle.</a:t>
            </a:r>
          </a:p>
          <a:p>
            <a:pPr>
              <a:spcAft>
                <a:spcPts val="600"/>
              </a:spcAft>
              <a:defRPr sz="1900">
                <a:solidFill>
                  <a:srgbClr val="221F26"/>
                </a:solidFill>
                <a:latin typeface="Aptos"/>
              </a:defRPr>
            </a:pPr>
            <a:r>
              <a:t>3. Marcar una película como favorita.</a:t>
            </a:r>
          </a:p>
          <a:p>
            <a:pPr>
              <a:spcAft>
                <a:spcPts val="600"/>
              </a:spcAft>
              <a:defRPr sz="1900">
                <a:solidFill>
                  <a:srgbClr val="221F26"/>
                </a:solidFill>
                <a:latin typeface="Aptos"/>
              </a:defRPr>
            </a:pPr>
            <a:r>
              <a:t>4. Ir a Preferidas y comprobar que aparece.</a:t>
            </a:r>
          </a:p>
          <a:p>
            <a:pPr>
              <a:spcAft>
                <a:spcPts val="600"/>
              </a:spcAft>
              <a:defRPr sz="1900">
                <a:solidFill>
                  <a:srgbClr val="221F26"/>
                </a:solidFill>
                <a:latin typeface="Aptos"/>
              </a:defRPr>
            </a:pPr>
            <a:r>
              <a:t>5. Cambiar idioma en Configuración.</a:t>
            </a:r>
          </a:p>
          <a:p>
            <a:pPr>
              <a:spcAft>
                <a:spcPts val="600"/>
              </a:spcAft>
              <a:defRPr sz="1900">
                <a:solidFill>
                  <a:srgbClr val="221F26"/>
                </a:solidFill>
                <a:latin typeface="Aptos"/>
              </a:defRPr>
            </a:pPr>
            <a:r>
              <a:t>6. Crear segundo usuario y comprobar favoritas separadas.</a:t>
            </a:r>
          </a:p>
          <a:p>
            <a:pPr>
              <a:spcAft>
                <a:spcPts val="600"/>
              </a:spcAft>
              <a:defRPr sz="1900">
                <a:solidFill>
                  <a:srgbClr val="221F26"/>
                </a:solidFill>
                <a:latin typeface="Aptos"/>
              </a:defRPr>
            </a:pPr>
            <a:r>
              <a:t>7. Borrar una película con confirmación.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432978"/>
                </a:solidFill>
                <a:latin typeface="Aptos"/>
              </a:rPr>
              <a:t>Conclusiones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70432"/>
            <a:ext cx="8138160" cy="27432"/>
          </a:xfrm>
          <a:prstGeom prst="rect">
            <a:avLst/>
          </a:prstGeom>
          <a:solidFill>
            <a:srgbClr val="673AB7"/>
          </a:solidFill>
          <a:ln>
            <a:solidFill>
              <a:srgbClr val="673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D5567"/>
                </a:solidFill>
                <a:latin typeface="Aptos"/>
              </a:rPr>
              <a:t>FilmApp · Exposición final ·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7680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21F26"/>
                </a:solidFill>
                <a:latin typeface="Aptos"/>
              </a:defRPr>
            </a:pPr>
            <a:r>
              <a:t>La app cumple un flujo completo de uso.</a:t>
            </a:r>
          </a:p>
          <a:p>
            <a:pPr>
              <a:spcAft>
                <a:spcPts val="600"/>
              </a:spcAft>
              <a:defRPr sz="2000">
                <a:solidFill>
                  <a:srgbClr val="221F26"/>
                </a:solidFill>
                <a:latin typeface="Aptos"/>
              </a:defRPr>
            </a:pPr>
            <a:r>
              <a:t>La arquitectura separa presentación, estado, repositorios y datos.</a:t>
            </a:r>
          </a:p>
          <a:p>
            <a:pPr>
              <a:spcAft>
                <a:spcPts val="600"/>
              </a:spcAft>
              <a:defRPr sz="2000">
                <a:solidFill>
                  <a:srgbClr val="221F26"/>
                </a:solidFill>
                <a:latin typeface="Aptos"/>
              </a:defRPr>
            </a:pPr>
            <a:r>
              <a:t>Provider permite compartir estado entre pantallas.</a:t>
            </a:r>
          </a:p>
          <a:p>
            <a:pPr>
              <a:spcAft>
                <a:spcPts val="600"/>
              </a:spcAft>
              <a:defRPr sz="2000">
                <a:solidFill>
                  <a:srgbClr val="221F26"/>
                </a:solidFill>
                <a:latin typeface="Aptos"/>
              </a:defRPr>
            </a:pPr>
            <a:r>
              <a:t>SQLite aporta persistencia local real.</a:t>
            </a:r>
          </a:p>
          <a:p>
            <a:pPr>
              <a:spcAft>
                <a:spcPts val="600"/>
              </a:spcAft>
              <a:defRPr sz="2000">
                <a:solidFill>
                  <a:srgbClr val="221F26"/>
                </a:solidFill>
                <a:latin typeface="Aptos"/>
              </a:defRPr>
            </a:pPr>
            <a:r>
              <a:t>La app está preparada para seguir creciendo.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251960"/>
            <a:ext cx="73152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EE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4361688"/>
            <a:ext cx="6986016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432978"/>
                </a:solidFill>
                <a:latin typeface="Aptos"/>
              </a:rPr>
              <a:t>Mejoras futuras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4745736"/>
            <a:ext cx="6986016" cy="2743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D5567"/>
                </a:solidFill>
                <a:latin typeface="Aptos"/>
              </a:rPr>
              <a:t>Editar películas, filtros por género, imágenes externas, autenticación segura con backend y más tests.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